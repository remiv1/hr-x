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77637" autoAdjust="0"/>
  </p:normalViewPr>
  <p:slideViewPr>
    <p:cSldViewPr snapToGrid="0">
      <p:cViewPr varScale="1">
        <p:scale>
          <a:sx n="77" d="100"/>
          <a:sy n="77" d="100"/>
        </p:scale>
        <p:origin x="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Profondeur</a:t>
            </a:r>
            <a:r>
              <a:rPr lang="en-US" dirty="0"/>
              <a:t>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Compétences, réalisations mesurées, contexte et preuves — pas seulement des titres.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Structure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ouvert et lisible par les machines : données comparables et interopérables.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Vivant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continues et actualisables au fil des formations, projets et mobilités.</a:t>
            </a:r>
            <a:endParaRPr lang="fr-FR" sz="1200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HR-X est créé et lu à la volée. La plateforme n'est qu'un moteur de format : elle écrit et lit le HR-X, mais ne stocke jamais rien.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Aucune</a:t>
            </a:r>
            <a:r>
              <a:rPr lang="en-US" dirty="0"/>
              <a:t> base centrale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coffre de données personnelles à protéger ni à pirater.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Souveraineté</a:t>
            </a:r>
            <a:r>
              <a:rPr lang="en-US" dirty="0"/>
              <a:t> du </a:t>
            </a:r>
            <a:r>
              <a:rPr lang="en-US" dirty="0" err="1"/>
              <a:t>citoyen</a:t>
            </a:r>
            <a:r>
              <a:rPr lang="en-US" dirty="0"/>
              <a:t>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reste détenue par la personne et ses sources ; la plateforme (ou le programme) ne fait que la transformer.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Confiance par conception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« honeypot », pas de revente de données, conformité native au RGPD.</a:t>
            </a:r>
            <a:endParaRPr lang="fr-FR" sz="1200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 err="1"/>
              <a:t>Souveraineté</a:t>
            </a:r>
            <a:r>
              <a:rPr lang="en-US" dirty="0"/>
              <a:t> &amp; sécurité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Surface </a:t>
            </a:r>
            <a:r>
              <a:rPr lang="en-US" dirty="0" err="1"/>
              <a:t>d’attaque</a:t>
            </a:r>
            <a:r>
              <a:rPr lang="en-US" dirty="0"/>
              <a:t> </a:t>
            </a:r>
            <a:r>
              <a:rPr lang="en-US" dirty="0" err="1"/>
              <a:t>réduite</a:t>
            </a:r>
            <a:r>
              <a:rPr lang="en-US" dirty="0"/>
              <a:t> du fait de </a:t>
            </a:r>
            <a:r>
              <a:rPr lang="en-US" dirty="0" err="1"/>
              <a:t>l’absence</a:t>
            </a:r>
            <a:r>
              <a:rPr lang="en-US" dirty="0"/>
              <a:t> de base de données </a:t>
            </a:r>
            <a:r>
              <a:rPr lang="en-US" dirty="0" err="1"/>
              <a:t>nationale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un format de données.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Les données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détenues</a:t>
            </a:r>
            <a:r>
              <a:rPr lang="en-US" dirty="0"/>
              <a:t> par le </a:t>
            </a:r>
            <a:r>
              <a:rPr lang="en-US" dirty="0" err="1"/>
              <a:t>citoyen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sources, jamais </a:t>
            </a:r>
            <a:r>
              <a:rPr lang="en-US" dirty="0" err="1"/>
              <a:t>centralisée</a:t>
            </a:r>
            <a:r>
              <a:rPr lang="en-US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Indépendance</a:t>
            </a:r>
            <a:r>
              <a:rPr lang="en-US" dirty="0"/>
              <a:t> vis-à-vis de </a:t>
            </a:r>
            <a:r>
              <a:rPr lang="en-US" dirty="0" err="1"/>
              <a:t>plateformes</a:t>
            </a:r>
            <a:r>
              <a:rPr lang="en-US" dirty="0"/>
              <a:t> et formats propriétaire étranger. La France, tête de file d’un movement duplicable.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err="1"/>
              <a:t>Economie</a:t>
            </a:r>
            <a:r>
              <a:rPr lang="en-US" dirty="0"/>
              <a:t> et employ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Données riches, profondes et comparables : poste </a:t>
            </a:r>
            <a:r>
              <a:rPr lang="en-US" dirty="0" err="1"/>
              <a:t>pourvus</a:t>
            </a:r>
            <a:r>
              <a:rPr lang="en-US" dirty="0"/>
              <a:t> plus </a:t>
            </a:r>
            <a:r>
              <a:rPr lang="en-US" dirty="0" err="1"/>
              <a:t>rapidement</a:t>
            </a:r>
            <a:r>
              <a:rPr lang="en-US" dirty="0"/>
              <a:t> par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personnes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Productivité</a:t>
            </a:r>
            <a:r>
              <a:rPr lang="en-US" dirty="0"/>
              <a:t> et </a:t>
            </a:r>
            <a:r>
              <a:rPr lang="en-US" dirty="0" err="1"/>
              <a:t>mobilité</a:t>
            </a:r>
            <a:r>
              <a:rPr lang="en-US" dirty="0"/>
              <a:t> </a:t>
            </a:r>
            <a:r>
              <a:rPr lang="en-US" dirty="0" err="1"/>
              <a:t>lisible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Standard </a:t>
            </a:r>
            <a:r>
              <a:rPr lang="en-US" dirty="0" err="1"/>
              <a:t>ouvert</a:t>
            </a:r>
            <a:r>
              <a:rPr lang="en-US" dirty="0"/>
              <a:t> et </a:t>
            </a:r>
            <a:r>
              <a:rPr lang="en-US" dirty="0" err="1"/>
              <a:t>enrichissable</a:t>
            </a:r>
            <a:r>
              <a:rPr lang="en-US" dirty="0"/>
              <a:t> à vocation </a:t>
            </a:r>
            <a:r>
              <a:rPr lang="en-US" dirty="0" err="1"/>
              <a:t>internationale</a:t>
            </a:r>
            <a:r>
              <a:rPr lang="en-US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Inclusion et modernization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Recrutement</a:t>
            </a:r>
            <a:r>
              <a:rPr lang="en-US" dirty="0"/>
              <a:t> </a:t>
            </a:r>
            <a:r>
              <a:rPr lang="en-US" dirty="0" err="1"/>
              <a:t>lié</a:t>
            </a:r>
            <a:r>
              <a:rPr lang="en-US" dirty="0"/>
              <a:t> aux </a:t>
            </a:r>
            <a:r>
              <a:rPr lang="en-US" dirty="0" err="1"/>
              <a:t>compétences</a:t>
            </a:r>
            <a:r>
              <a:rPr lang="en-US" dirty="0"/>
              <a:t> </a:t>
            </a:r>
            <a:r>
              <a:rPr lang="en-US" dirty="0" err="1"/>
              <a:t>plutôt</a:t>
            </a:r>
            <a:r>
              <a:rPr lang="en-US" dirty="0"/>
              <a:t> </a:t>
            </a:r>
            <a:r>
              <a:rPr lang="en-US" dirty="0" err="1"/>
              <a:t>qu’au</a:t>
            </a:r>
            <a:r>
              <a:rPr lang="en-US" dirty="0"/>
              <a:t> diplôme qui </a:t>
            </a:r>
            <a:r>
              <a:rPr lang="en-US" dirty="0" err="1"/>
              <a:t>crée</a:t>
            </a:r>
            <a:r>
              <a:rPr lang="en-US" dirty="0"/>
              <a:t> des </a:t>
            </a:r>
            <a:r>
              <a:rPr lang="en-US" dirty="0" err="1"/>
              <a:t>biais</a:t>
            </a:r>
            <a:r>
              <a:rPr lang="en-US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Reconnaissance de </a:t>
            </a:r>
            <a:r>
              <a:rPr lang="en-US" dirty="0" err="1"/>
              <a:t>l’apprentissage</a:t>
            </a:r>
            <a:r>
              <a:rPr lang="en-US" dirty="0"/>
              <a:t> </a:t>
            </a:r>
            <a:r>
              <a:rPr lang="en-US" dirty="0" err="1"/>
              <a:t>informel</a:t>
            </a:r>
            <a:r>
              <a:rPr lang="en-US" dirty="0"/>
              <a:t> et de la formation continue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Services publics </a:t>
            </a:r>
            <a:r>
              <a:rPr lang="en-US" dirty="0" err="1"/>
              <a:t>interopérables</a:t>
            </a:r>
            <a:r>
              <a:rPr lang="en-US" dirty="0"/>
              <a:t> </a:t>
            </a:r>
            <a:r>
              <a:rPr lang="en-US" dirty="0" err="1"/>
              <a:t>autour</a:t>
            </a:r>
            <a:r>
              <a:rPr lang="en-US" dirty="0"/>
              <a:t> d’un format </a:t>
            </a:r>
            <a:r>
              <a:rPr lang="en-US" dirty="0" err="1"/>
              <a:t>commun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69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21853" r="21853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926080" cy="6858000"/>
          </a:xfrm>
          <a:prstGeom prst="rect">
            <a:avLst/>
          </a:prstGeom>
          <a:solidFill>
            <a:srgbClr val="0B1733">
              <a:alpha val="8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4572000" y="0"/>
            <a:ext cx="1828800" cy="6858000"/>
          </a:xfrm>
          <a:prstGeom prst="rect">
            <a:avLst/>
          </a:prstGeom>
          <a:solidFill>
            <a:srgbClr val="0B1733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B1733">
              <a:alpha val="92000"/>
            </a:srgbClr>
          </a:solidFill>
          <a:ln/>
        </p:spPr>
        <p:txBody>
          <a:bodyPr/>
          <a:lstStyle/>
          <a:p>
            <a:endParaRPr lang="fr-FR" noProof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77240" cy="64008"/>
          </a:xfrm>
          <a:prstGeom prst="rect">
            <a:avLst/>
          </a:prstGeom>
          <a:solidFill>
            <a:srgbClr val="E8B23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220" noProof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OUVERT DE DONNÉES PROFESSIONNELLES</a:t>
            </a:r>
            <a:endParaRPr lang="fr-F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603504" y="15087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</a:t>
            </a:r>
            <a:endParaRPr lang="fr-FR" sz="9200" noProof="0" dirty="0"/>
          </a:p>
        </p:txBody>
      </p:sp>
      <p:sp>
        <p:nvSpPr>
          <p:cNvPr id="9" name="Text 6"/>
          <p:cNvSpPr/>
          <p:nvPr/>
        </p:nvSpPr>
        <p:spPr>
          <a:xfrm>
            <a:off x="658368" y="2880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fr-FR" sz="2600" i="1" noProof="0" dirty="0">
                <a:solidFill>
                  <a:srgbClr val="E8B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format de données qui remplace le CV.</a:t>
            </a:r>
            <a:endParaRPr lang="fr-FR" sz="2600" noProof="0" dirty="0"/>
          </a:p>
        </p:txBody>
      </p:sp>
      <p:sp>
        <p:nvSpPr>
          <p:cNvPr id="10" name="Text 7"/>
          <p:cNvSpPr/>
          <p:nvPr/>
        </p:nvSpPr>
        <p:spPr>
          <a:xfrm>
            <a:off x="658368" y="3977639"/>
            <a:ext cx="5212080" cy="162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standard pour des données professionnelles :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et lu par une plateforme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ne conserve aucune donnée.</a:t>
            </a:r>
            <a:endParaRPr lang="fr-FR" sz="1600" noProof="0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4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9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fr-FR" sz="1250" noProof="0"/>
          </a:p>
        </p:txBody>
      </p:sp>
      <p:sp>
        <p:nvSpPr>
          <p:cNvPr id="3" name="Text 1"/>
          <p:cNvSpPr/>
          <p:nvPr/>
        </p:nvSpPr>
        <p:spPr>
          <a:xfrm>
            <a:off x="640080" y="82853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CV : un format pauvre et plat</a:t>
            </a:r>
            <a:endParaRPr lang="fr-FR" sz="3100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FEFE573-5ACB-6BFC-C033-7B06644B2C15}"/>
              </a:ext>
            </a:extLst>
          </p:cNvPr>
          <p:cNvGrpSpPr/>
          <p:nvPr/>
        </p:nvGrpSpPr>
        <p:grpSpPr>
          <a:xfrm>
            <a:off x="640080" y="1945321"/>
            <a:ext cx="2615184" cy="2331720"/>
            <a:chOff x="640080" y="1945321"/>
            <a:chExt cx="2615184" cy="2331720"/>
          </a:xfrm>
        </p:grpSpPr>
        <p:sp>
          <p:nvSpPr>
            <p:cNvPr id="5" name="Shape 3"/>
            <p:cNvSpPr/>
            <p:nvPr/>
          </p:nvSpPr>
          <p:spPr>
            <a:xfrm>
              <a:off x="64008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0080" y="1945321"/>
              <a:ext cx="2615184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 page</a:t>
              </a:r>
              <a:endParaRPr lang="fr-FR" sz="33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4124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Une vie professionnelle réduite à un résumé plat et subjectif</a:t>
              </a:r>
              <a:endParaRPr lang="fr-FR" sz="1250" noProof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C275B36-EB62-B4C4-381C-4A3888C7BB47}"/>
              </a:ext>
            </a:extLst>
          </p:cNvPr>
          <p:cNvGrpSpPr/>
          <p:nvPr/>
        </p:nvGrpSpPr>
        <p:grpSpPr>
          <a:xfrm>
            <a:off x="3474720" y="1945321"/>
            <a:ext cx="2615184" cy="2331720"/>
            <a:chOff x="3474720" y="1945321"/>
            <a:chExt cx="2615184" cy="2331720"/>
          </a:xfrm>
        </p:grpSpPr>
        <p:sp>
          <p:nvSpPr>
            <p:cNvPr id="9" name="Shape 7"/>
            <p:cNvSpPr/>
            <p:nvPr/>
          </p:nvSpPr>
          <p:spPr>
            <a:xfrm>
              <a:off x="347472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74720" y="1945321"/>
              <a:ext cx="2615184" cy="82296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1" name="Text 9"/>
            <p:cNvSpPr/>
            <p:nvPr/>
          </p:nvSpPr>
          <p:spPr>
            <a:xfrm>
              <a:off x="352044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53 %</a:t>
              </a:r>
              <a:endParaRPr lang="fr-FR" sz="3300" noProof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7588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candidatures contiennent au moins une information erronée (SHRM)</a:t>
              </a:r>
              <a:endParaRPr lang="fr-FR" sz="1250" noProof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DD33C2A1-9C63-4C6D-1FD9-2CC16CD187A4}"/>
              </a:ext>
            </a:extLst>
          </p:cNvPr>
          <p:cNvGrpSpPr/>
          <p:nvPr/>
        </p:nvGrpSpPr>
        <p:grpSpPr>
          <a:xfrm>
            <a:off x="6309360" y="1945321"/>
            <a:ext cx="2615184" cy="2331720"/>
            <a:chOff x="6309360" y="1945321"/>
            <a:chExt cx="2615184" cy="2331720"/>
          </a:xfrm>
        </p:grpSpPr>
        <p:sp>
          <p:nvSpPr>
            <p:cNvPr id="13" name="Shape 11"/>
            <p:cNvSpPr/>
            <p:nvPr/>
          </p:nvSpPr>
          <p:spPr>
            <a:xfrm>
              <a:off x="630936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309360" y="1945321"/>
              <a:ext cx="2615184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35508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61 %</a:t>
              </a:r>
              <a:endParaRPr lang="fr-FR" sz="3300" noProof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1052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actifs à reconvertir d'ici 2027 : le CV fige des compétences déjà périmées (WEF)</a:t>
              </a:r>
              <a:endParaRPr lang="fr-FR" sz="1250" noProof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C41484F6-3807-E470-3CA0-B5155093432F}"/>
              </a:ext>
            </a:extLst>
          </p:cNvPr>
          <p:cNvGrpSpPr/>
          <p:nvPr/>
        </p:nvGrpSpPr>
        <p:grpSpPr>
          <a:xfrm>
            <a:off x="9144000" y="1945321"/>
            <a:ext cx="2615184" cy="2331720"/>
            <a:chOff x="9144000" y="1945321"/>
            <a:chExt cx="2615184" cy="2331720"/>
          </a:xfrm>
        </p:grpSpPr>
        <p:sp>
          <p:nvSpPr>
            <p:cNvPr id="17" name="Shape 15"/>
            <p:cNvSpPr/>
            <p:nvPr/>
          </p:nvSpPr>
          <p:spPr>
            <a:xfrm>
              <a:off x="914400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144000" y="1945321"/>
              <a:ext cx="2615184" cy="82296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18972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</a:t>
              </a:r>
              <a:endParaRPr lang="fr-FR" sz="3300" noProof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34516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 structurée et comparable : ni lisible par les machines, ni interopérable</a:t>
              </a:r>
              <a:endParaRPr lang="fr-FR" sz="1250" noProof="0"/>
            </a:p>
          </p:txBody>
        </p:sp>
      </p:grpSp>
      <p:sp>
        <p:nvSpPr>
          <p:cNvPr id="21" name="Resultat label"/>
          <p:cNvSpPr/>
          <p:nvPr/>
        </p:nvSpPr>
        <p:spPr>
          <a:xfrm>
            <a:off x="640080" y="4543022"/>
            <a:ext cx="10881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fr-FR" sz="1100" noProof="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3E82B74-BD5B-BB5B-B36C-1D3E55E3723C}"/>
              </a:ext>
            </a:extLst>
          </p:cNvPr>
          <p:cNvGrpSpPr/>
          <p:nvPr/>
        </p:nvGrpSpPr>
        <p:grpSpPr>
          <a:xfrm>
            <a:off x="953640" y="4900000"/>
            <a:ext cx="3000000" cy="1610000"/>
            <a:chOff x="953640" y="4900000"/>
            <a:chExt cx="3000000" cy="1610000"/>
          </a:xfrm>
        </p:grpSpPr>
        <p:sp>
          <p:nvSpPr>
            <p:cNvPr id="30" name="Badge 1"/>
            <p:cNvSpPr/>
            <p:nvPr/>
          </p:nvSpPr>
          <p:spPr>
            <a:xfrm>
              <a:off x="1953640" y="4900000"/>
              <a:ext cx="1000000" cy="1000000"/>
            </a:xfrm>
            <a:prstGeom prst="ellipse">
              <a:avLst/>
            </a:prstGeom>
            <a:solidFill>
              <a:srgbClr val="1B2D52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1" name="Icon Exclus"/>
            <p:cNvSpPr/>
            <p:nvPr/>
          </p:nvSpPr>
          <p:spPr>
            <a:xfrm>
              <a:off x="2173640" y="5120000"/>
              <a:ext cx="560000" cy="560000"/>
            </a:xfrm>
            <a:prstGeom prst="noSmoking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2" name="Label 1"/>
            <p:cNvSpPr/>
            <p:nvPr/>
          </p:nvSpPr>
          <p:spPr>
            <a:xfrm>
              <a:off x="95364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Talents écartés à tort</a:t>
              </a:r>
              <a:endParaRPr lang="fr-FR" sz="1250" noProof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0B3381A2-31EA-4580-7404-5DF3EA4129A6}"/>
              </a:ext>
            </a:extLst>
          </p:cNvPr>
          <p:cNvGrpSpPr/>
          <p:nvPr/>
        </p:nvGrpSpPr>
        <p:grpSpPr>
          <a:xfrm>
            <a:off x="4580760" y="4900000"/>
            <a:ext cx="3000000" cy="1610000"/>
            <a:chOff x="4580760" y="4900000"/>
            <a:chExt cx="3000000" cy="161000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E535FFAB-AE6F-7835-EDA1-904CD956C39A}"/>
                </a:ext>
              </a:extLst>
            </p:cNvPr>
            <p:cNvGrpSpPr/>
            <p:nvPr/>
          </p:nvGrpSpPr>
          <p:grpSpPr>
            <a:xfrm>
              <a:off x="5580760" y="4900000"/>
              <a:ext cx="1000000" cy="1000000"/>
              <a:chOff x="5580760" y="4900000"/>
              <a:chExt cx="1000000" cy="1000000"/>
            </a:xfrm>
          </p:grpSpPr>
          <p:sp>
            <p:nvSpPr>
              <p:cNvPr id="33" name="Badge 2"/>
              <p:cNvSpPr/>
              <p:nvPr/>
            </p:nvSpPr>
            <p:spPr>
              <a:xfrm>
                <a:off x="5580760" y="4900000"/>
                <a:ext cx="1000000" cy="1000000"/>
              </a:xfrm>
              <a:prstGeom prst="ellipse">
                <a:avLst/>
              </a:prstGeom>
              <a:solidFill>
                <a:srgbClr val="1B2D52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4" name="Clock ring"/>
              <p:cNvSpPr/>
              <p:nvPr/>
            </p:nvSpPr>
            <p:spPr>
              <a:xfrm>
                <a:off x="5800760" y="5120000"/>
                <a:ext cx="560000" cy="560000"/>
              </a:xfrm>
              <a:prstGeom prst="ellipse">
                <a:avLst/>
              </a:prstGeom>
              <a:noFill/>
              <a:ln w="44450">
                <a:solidFill>
                  <a:srgbClr val="4FD1E0"/>
                </a:solidFill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5" name="Clock hand v"/>
              <p:cNvSpPr/>
              <p:nvPr/>
            </p:nvSpPr>
            <p:spPr>
              <a:xfrm>
                <a:off x="6061710" y="5200000"/>
                <a:ext cx="38100" cy="200000"/>
              </a:xfrm>
              <a:prstGeom prst="rect">
                <a:avLst/>
              </a:prstGeom>
              <a:solidFill>
                <a:srgbClr val="4FD1E0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6" name="Clock hand h"/>
              <p:cNvSpPr/>
              <p:nvPr/>
            </p:nvSpPr>
            <p:spPr>
              <a:xfrm>
                <a:off x="6080760" y="5380950"/>
                <a:ext cx="170000" cy="38100"/>
              </a:xfrm>
              <a:prstGeom prst="rect">
                <a:avLst/>
              </a:prstGeom>
              <a:solidFill>
                <a:srgbClr val="4FD1E0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</p:grpSp>
        <p:sp>
          <p:nvSpPr>
            <p:cNvPr id="37" name="Label 2"/>
            <p:cNvSpPr/>
            <p:nvPr/>
          </p:nvSpPr>
          <p:spPr>
            <a:xfrm>
              <a:off x="458076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Recrutements lents</a:t>
              </a:r>
              <a:endParaRPr lang="fr-FR" sz="1250" noProof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8190EE9-FCC6-A1FF-79DB-0EE5B4529BF8}"/>
              </a:ext>
            </a:extLst>
          </p:cNvPr>
          <p:cNvGrpSpPr/>
          <p:nvPr/>
        </p:nvGrpSpPr>
        <p:grpSpPr>
          <a:xfrm>
            <a:off x="8207880" y="4900000"/>
            <a:ext cx="3000000" cy="1610000"/>
            <a:chOff x="8207880" y="4900000"/>
            <a:chExt cx="3000000" cy="1610000"/>
          </a:xfrm>
        </p:grpSpPr>
        <p:sp>
          <p:nvSpPr>
            <p:cNvPr id="38" name="Badge 3"/>
            <p:cNvSpPr/>
            <p:nvPr/>
          </p:nvSpPr>
          <p:spPr>
            <a:xfrm>
              <a:off x="9207880" y="4900000"/>
              <a:ext cx="1000000" cy="1000000"/>
            </a:xfrm>
            <a:prstGeom prst="ellipse">
              <a:avLst/>
            </a:prstGeom>
            <a:solidFill>
              <a:srgbClr val="1B2D52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9" name="Frag 1"/>
            <p:cNvSpPr/>
            <p:nvPr/>
          </p:nvSpPr>
          <p:spPr>
            <a:xfrm>
              <a:off x="9472880" y="516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0" name="Frag 2"/>
            <p:cNvSpPr/>
            <p:nvPr/>
          </p:nvSpPr>
          <p:spPr>
            <a:xfrm>
              <a:off x="9742880" y="513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1" name="Frag 3"/>
            <p:cNvSpPr/>
            <p:nvPr/>
          </p:nvSpPr>
          <p:spPr>
            <a:xfrm>
              <a:off x="9472880" y="5455000"/>
              <a:ext cx="200000" cy="200000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2" name="Frag 4"/>
            <p:cNvSpPr/>
            <p:nvPr/>
          </p:nvSpPr>
          <p:spPr>
            <a:xfrm>
              <a:off x="9772880" y="547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3" name="Label 3"/>
            <p:cNvSpPr/>
            <p:nvPr/>
          </p:nvSpPr>
          <p:spPr>
            <a:xfrm>
              <a:off x="820788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Données fragmentées et non souveraines</a:t>
              </a:r>
              <a:endParaRPr lang="fr-FR" sz="1250" noProof="0"/>
            </a:p>
          </p:txBody>
        </p:sp>
      </p:grpSp>
      <p:sp>
        <p:nvSpPr>
          <p:cNvPr id="22" name="Text 20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100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 Inconvenients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457200"/>
            <a:ext cx="109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INCONVÉNIENTS</a:t>
            </a:r>
            <a:endParaRPr lang="fr-FR" sz="1250" noProof="0"/>
          </a:p>
        </p:txBody>
      </p:sp>
      <p:sp>
        <p:nvSpPr>
          <p:cNvPr id="3" name="Title"/>
          <p:cNvSpPr/>
          <p:nvPr/>
        </p:nvSpPr>
        <p:spPr>
          <a:xfrm>
            <a:off x="640080" y="828536"/>
            <a:ext cx="109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CV oblige à traduire, deviner et déformer</a:t>
            </a:r>
            <a:endParaRPr lang="fr-FR" sz="3100" noProof="0"/>
          </a:p>
        </p:txBody>
      </p:sp>
      <p:grpSp>
        <p:nvGrpSpPr>
          <p:cNvPr id="20" name="Card 1"/>
          <p:cNvGrpSpPr/>
          <p:nvPr/>
        </p:nvGrpSpPr>
        <p:grpSpPr>
          <a:xfrm>
            <a:off x="640080" y="1980000"/>
            <a:ext cx="3450000" cy="3900000"/>
            <a:chOff x="640080" y="1980000"/>
            <a:chExt cx="3450000" cy="3900000"/>
          </a:xfrm>
        </p:grpSpPr>
        <p:sp>
          <p:nvSpPr>
            <p:cNvPr id="21" name="Card 1 bg"/>
            <p:cNvSpPr/>
            <p:nvPr/>
          </p:nvSpPr>
          <p:spPr>
            <a:xfrm>
              <a:off x="640080" y="1980000"/>
              <a:ext cx="3450000" cy="39000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2" name="Card 1 bar"/>
            <p:cNvSpPr/>
            <p:nvPr/>
          </p:nvSpPr>
          <p:spPr>
            <a:xfrm>
              <a:off x="640080" y="1980000"/>
              <a:ext cx="3450000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3" name="Card 1 num"/>
            <p:cNvSpPr/>
            <p:nvPr/>
          </p:nvSpPr>
          <p:spPr>
            <a:xfrm>
              <a:off x="900080" y="2280000"/>
              <a:ext cx="2930000" cy="7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0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fr-FR" sz="4000" noProof="0" dirty="0"/>
            </a:p>
          </p:txBody>
        </p:sp>
        <p:sp>
          <p:nvSpPr>
            <p:cNvPr id="24" name="Card 1 title"/>
            <p:cNvSpPr/>
            <p:nvPr/>
          </p:nvSpPr>
          <p:spPr>
            <a:xfrm>
              <a:off x="900080" y="3120000"/>
              <a:ext cx="293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Le candidat devine</a:t>
              </a:r>
              <a:endParaRPr lang="fr-FR" sz="1700" noProof="0"/>
            </a:p>
          </p:txBody>
        </p:sp>
        <p:sp>
          <p:nvSpPr>
            <p:cNvPr id="25" name="Card 1 desc"/>
            <p:cNvSpPr/>
            <p:nvPr/>
          </p:nvSpPr>
          <p:spPr>
            <a:xfrm>
              <a:off x="900080" y="3760000"/>
              <a:ext cx="2930000" cy="1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000"/>
                </a:lnSpc>
                <a:buNone/>
              </a:pPr>
              <a:r>
                <a:rPr lang="fr-FR" sz="140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 candidat doit imaginer quelles données intéresseront le recruteur.</a:t>
              </a:r>
              <a:endParaRPr lang="fr-FR" sz="1400" noProof="0"/>
            </a:p>
          </p:txBody>
        </p:sp>
      </p:grpSp>
      <p:grpSp>
        <p:nvGrpSpPr>
          <p:cNvPr id="30" name="Card 2"/>
          <p:cNvGrpSpPr/>
          <p:nvPr/>
        </p:nvGrpSpPr>
        <p:grpSpPr>
          <a:xfrm>
            <a:off x="4371120" y="1980000"/>
            <a:ext cx="3450000" cy="3900000"/>
            <a:chOff x="4371120" y="1980000"/>
            <a:chExt cx="3450000" cy="3900000"/>
          </a:xfrm>
        </p:grpSpPr>
        <p:sp>
          <p:nvSpPr>
            <p:cNvPr id="31" name="Card 2 bg"/>
            <p:cNvSpPr/>
            <p:nvPr/>
          </p:nvSpPr>
          <p:spPr>
            <a:xfrm>
              <a:off x="4371120" y="1980000"/>
              <a:ext cx="3450000" cy="39000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2" name="Card 2 bar"/>
            <p:cNvSpPr/>
            <p:nvPr/>
          </p:nvSpPr>
          <p:spPr>
            <a:xfrm>
              <a:off x="4371120" y="1980000"/>
              <a:ext cx="3450000" cy="82296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3" name="Card 2 num"/>
            <p:cNvSpPr/>
            <p:nvPr/>
          </p:nvSpPr>
          <p:spPr>
            <a:xfrm>
              <a:off x="4631120" y="2280000"/>
              <a:ext cx="2930000" cy="7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000" b="1" noProof="0" dirty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fr-FR" sz="4000" noProof="0" dirty="0"/>
            </a:p>
          </p:txBody>
        </p:sp>
        <p:sp>
          <p:nvSpPr>
            <p:cNvPr id="34" name="Card 2 title"/>
            <p:cNvSpPr/>
            <p:nvPr/>
          </p:nvSpPr>
          <p:spPr>
            <a:xfrm>
              <a:off x="4631120" y="3120000"/>
              <a:ext cx="293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La machine interprète</a:t>
              </a:r>
              <a:endParaRPr lang="fr-FR" sz="1700" noProof="0"/>
            </a:p>
          </p:txBody>
        </p:sp>
        <p:sp>
          <p:nvSpPr>
            <p:cNvPr id="35" name="Card 2 desc"/>
            <p:cNvSpPr/>
            <p:nvPr/>
          </p:nvSpPr>
          <p:spPr>
            <a:xfrm>
              <a:off x="4631120" y="3760000"/>
              <a:ext cx="2930000" cy="1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000"/>
                </a:lnSpc>
                <a:buNone/>
              </a:pPr>
              <a:r>
                <a:rPr lang="fr-FR" sz="140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machine doit comprendre la personnalité et les compétences, et imaginer celles qui sont absentes.</a:t>
              </a:r>
              <a:endParaRPr lang="fr-FR" sz="1400" noProof="0"/>
            </a:p>
          </p:txBody>
        </p:sp>
      </p:grpSp>
      <p:grpSp>
        <p:nvGrpSpPr>
          <p:cNvPr id="40" name="Card 3"/>
          <p:cNvGrpSpPr/>
          <p:nvPr/>
        </p:nvGrpSpPr>
        <p:grpSpPr>
          <a:xfrm>
            <a:off x="8102160" y="1980000"/>
            <a:ext cx="3450000" cy="3900000"/>
            <a:chOff x="8102160" y="1980000"/>
            <a:chExt cx="3450000" cy="3900000"/>
          </a:xfrm>
        </p:grpSpPr>
        <p:sp>
          <p:nvSpPr>
            <p:cNvPr id="41" name="Card 3 bg"/>
            <p:cNvSpPr/>
            <p:nvPr/>
          </p:nvSpPr>
          <p:spPr>
            <a:xfrm>
              <a:off x="8102160" y="1980000"/>
              <a:ext cx="3450000" cy="39000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2" name="Card 3 bar"/>
            <p:cNvSpPr/>
            <p:nvPr/>
          </p:nvSpPr>
          <p:spPr>
            <a:xfrm>
              <a:off x="8102160" y="1980000"/>
              <a:ext cx="3450000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3" name="Card 3 num"/>
            <p:cNvSpPr/>
            <p:nvPr/>
          </p:nvSpPr>
          <p:spPr>
            <a:xfrm>
              <a:off x="8362160" y="2280000"/>
              <a:ext cx="2930000" cy="7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000" b="1" noProof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fr-FR" sz="4000" noProof="0"/>
            </a:p>
          </p:txBody>
        </p:sp>
        <p:sp>
          <p:nvSpPr>
            <p:cNvPr id="44" name="Card 3 title"/>
            <p:cNvSpPr/>
            <p:nvPr/>
          </p:nvSpPr>
          <p:spPr>
            <a:xfrm>
              <a:off x="8362160" y="3120000"/>
              <a:ext cx="293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La forme l'emporte</a:t>
              </a:r>
              <a:endParaRPr lang="fr-FR" sz="1700" noProof="0"/>
            </a:p>
          </p:txBody>
        </p:sp>
        <p:sp>
          <p:nvSpPr>
            <p:cNvPr id="45" name="Card 3 desc"/>
            <p:cNvSpPr/>
            <p:nvPr/>
          </p:nvSpPr>
          <p:spPr>
            <a:xfrm>
              <a:off x="8362160" y="3760000"/>
              <a:ext cx="2930000" cy="1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000"/>
                </a:lnSpc>
                <a:buNone/>
              </a:pPr>
              <a:r>
                <a:rPr lang="fr-FR" sz="140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donnée disparaît derrière la forme, créant ainsi des biais.</a:t>
              </a:r>
              <a:endParaRPr lang="fr-FR" sz="1400" noProof="0"/>
            </a:p>
          </p:txBody>
        </p:sp>
      </p:grpSp>
      <p:sp>
        <p:nvSpPr>
          <p:cNvPr id="50" name="Page number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100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26520" r="26520"/>
          <a:stretch/>
        </p:blipFill>
        <p:spPr>
          <a:xfrm>
            <a:off x="7360920" y="0"/>
            <a:ext cx="48307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1188720" cy="6858000"/>
          </a:xfrm>
          <a:prstGeom prst="rect">
            <a:avLst/>
          </a:prstGeom>
          <a:solidFill>
            <a:srgbClr val="0B1733">
              <a:alpha val="7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B1733">
              <a:alpha val="96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fr-FR" sz="125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7498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 : des données riches et profondes</a:t>
            </a:r>
            <a:endParaRPr lang="fr-FR" sz="3100" noProof="0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5ED207C-56A1-D992-87EE-9709EAC3470F}"/>
              </a:ext>
            </a:extLst>
          </p:cNvPr>
          <p:cNvGrpSpPr/>
          <p:nvPr/>
        </p:nvGrpSpPr>
        <p:grpSpPr>
          <a:xfrm>
            <a:off x="640080" y="2295330"/>
            <a:ext cx="6263640" cy="1024128"/>
            <a:chOff x="640080" y="2743200"/>
            <a:chExt cx="6263640" cy="1024128"/>
          </a:xfrm>
        </p:grpSpPr>
        <p:sp>
          <p:nvSpPr>
            <p:cNvPr id="8" name="Shape 5"/>
            <p:cNvSpPr/>
            <p:nvPr/>
          </p:nvSpPr>
          <p:spPr>
            <a:xfrm>
              <a:off x="640080" y="274320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841248" y="2999232"/>
              <a:ext cx="512064" cy="512064"/>
            </a:xfrm>
            <a:prstGeom prst="ellipse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841248" y="299923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</a:t>
              </a:r>
              <a:endParaRPr lang="fr-FR" sz="2000" noProof="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554480" y="3113814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Profond</a:t>
              </a:r>
              <a:endParaRPr lang="fr-FR" sz="1600" noProof="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554480" y="3200400"/>
              <a:ext cx="5166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endParaRPr lang="fr-FR" sz="125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47CA1FF4-5E43-14B8-C678-BE19A4CF7C3D}"/>
              </a:ext>
            </a:extLst>
          </p:cNvPr>
          <p:cNvGrpSpPr/>
          <p:nvPr/>
        </p:nvGrpSpPr>
        <p:grpSpPr>
          <a:xfrm>
            <a:off x="640080" y="3720430"/>
            <a:ext cx="6263640" cy="1024128"/>
            <a:chOff x="640080" y="3931920"/>
            <a:chExt cx="6263640" cy="1024128"/>
          </a:xfrm>
        </p:grpSpPr>
        <p:sp>
          <p:nvSpPr>
            <p:cNvPr id="13" name="Shape 10"/>
            <p:cNvSpPr/>
            <p:nvPr/>
          </p:nvSpPr>
          <p:spPr>
            <a:xfrm>
              <a:off x="640080" y="393192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841248" y="4187952"/>
              <a:ext cx="512064" cy="512064"/>
            </a:xfrm>
            <a:prstGeom prst="ellipse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41248" y="418795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fr-FR" sz="2000" noProof="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554480" y="4265213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Structuré</a:t>
              </a:r>
              <a:endParaRPr lang="fr-FR" sz="1600" noProof="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5C4FE30-9F57-FA4A-CD65-4A36291BF879}"/>
              </a:ext>
            </a:extLst>
          </p:cNvPr>
          <p:cNvGrpSpPr/>
          <p:nvPr/>
        </p:nvGrpSpPr>
        <p:grpSpPr>
          <a:xfrm>
            <a:off x="640080" y="5120640"/>
            <a:ext cx="6263640" cy="1024128"/>
            <a:chOff x="640080" y="5120640"/>
            <a:chExt cx="6263640" cy="1024128"/>
          </a:xfrm>
        </p:grpSpPr>
        <p:sp>
          <p:nvSpPr>
            <p:cNvPr id="18" name="Shape 15"/>
            <p:cNvSpPr/>
            <p:nvPr/>
          </p:nvSpPr>
          <p:spPr>
            <a:xfrm>
              <a:off x="640080" y="512064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841248" y="5376672"/>
              <a:ext cx="512064" cy="512064"/>
            </a:xfrm>
            <a:prstGeom prst="ellipse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841248" y="537667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fr-FR" sz="2000" noProof="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554480" y="5435262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Vivant</a:t>
              </a:r>
              <a:endParaRPr lang="fr-FR" sz="1600" noProof="0" dirty="0"/>
            </a:p>
          </p:txBody>
        </p:sp>
      </p:grpSp>
      <p:sp>
        <p:nvSpPr>
          <p:cNvPr id="23" name="Text 20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27778" r="27778"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0"/>
            <a:ext cx="1188720" cy="6858000"/>
          </a:xfrm>
          <a:prstGeom prst="rect">
            <a:avLst/>
          </a:prstGeom>
          <a:solidFill>
            <a:srgbClr val="0B1733">
              <a:alpha val="7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4556912" y="-43543"/>
            <a:ext cx="7619695" cy="6858000"/>
          </a:xfrm>
          <a:prstGeom prst="rect">
            <a:avLst/>
          </a:prstGeom>
          <a:solidFill>
            <a:srgbClr val="0B1733">
              <a:alpha val="96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2"/>
          <p:cNvSpPr/>
          <p:nvPr/>
        </p:nvSpPr>
        <p:spPr>
          <a:xfrm>
            <a:off x="5074920" y="457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RÉTENTION</a:t>
            </a:r>
            <a:endParaRPr lang="fr-FR" sz="1250" noProof="0" dirty="0"/>
          </a:p>
        </p:txBody>
      </p:sp>
      <p:sp>
        <p:nvSpPr>
          <p:cNvPr id="6" name="Text 3"/>
          <p:cNvSpPr/>
          <p:nvPr/>
        </p:nvSpPr>
        <p:spPr>
          <a:xfrm>
            <a:off x="5074920" y="749808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fr-FR" sz="29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 qui ne conserve aucune donnée</a:t>
            </a:r>
            <a:endParaRPr lang="fr-FR" sz="2900" noProof="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fr-FR" sz="1500" noProof="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AB3F410-CBA6-7E2F-F147-0CDB533CC5C1}"/>
              </a:ext>
            </a:extLst>
          </p:cNvPr>
          <p:cNvGrpSpPr/>
          <p:nvPr/>
        </p:nvGrpSpPr>
        <p:grpSpPr>
          <a:xfrm>
            <a:off x="5074920" y="2743200"/>
            <a:ext cx="6629400" cy="1024128"/>
            <a:chOff x="5074920" y="2743200"/>
            <a:chExt cx="6629400" cy="1024128"/>
          </a:xfrm>
        </p:grpSpPr>
        <p:sp>
          <p:nvSpPr>
            <p:cNvPr id="8" name="Shape 5"/>
            <p:cNvSpPr/>
            <p:nvPr/>
          </p:nvSpPr>
          <p:spPr>
            <a:xfrm>
              <a:off x="5074920" y="274320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5074920" y="2743200"/>
              <a:ext cx="91440" cy="1024128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367528" y="3067340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Aucune base centrale</a:t>
              </a:r>
              <a:endParaRPr lang="fr-FR" sz="16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0AF70534-BB6C-549B-0D60-6EBE8D9B0BE3}"/>
              </a:ext>
            </a:extLst>
          </p:cNvPr>
          <p:cNvGrpSpPr/>
          <p:nvPr/>
        </p:nvGrpSpPr>
        <p:grpSpPr>
          <a:xfrm>
            <a:off x="5074920" y="3931920"/>
            <a:ext cx="6629400" cy="1024128"/>
            <a:chOff x="5074920" y="3931920"/>
            <a:chExt cx="6629400" cy="1024128"/>
          </a:xfrm>
        </p:grpSpPr>
        <p:sp>
          <p:nvSpPr>
            <p:cNvPr id="12" name="Shape 9"/>
            <p:cNvSpPr/>
            <p:nvPr/>
          </p:nvSpPr>
          <p:spPr>
            <a:xfrm>
              <a:off x="5074920" y="393192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074920" y="3931920"/>
              <a:ext cx="91440" cy="1024128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367528" y="4224964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Souveraineté du citoyen (RGPD)</a:t>
              </a:r>
              <a:endParaRPr lang="fr-FR" sz="1600" noProof="0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3781C220-2CC9-26B8-802F-506693E98A28}"/>
              </a:ext>
            </a:extLst>
          </p:cNvPr>
          <p:cNvGrpSpPr/>
          <p:nvPr/>
        </p:nvGrpSpPr>
        <p:grpSpPr>
          <a:xfrm>
            <a:off x="5074920" y="5120640"/>
            <a:ext cx="6629400" cy="1024128"/>
            <a:chOff x="5074920" y="5120640"/>
            <a:chExt cx="6629400" cy="1024128"/>
          </a:xfrm>
        </p:grpSpPr>
        <p:sp>
          <p:nvSpPr>
            <p:cNvPr id="16" name="Shape 13"/>
            <p:cNvSpPr/>
            <p:nvPr/>
          </p:nvSpPr>
          <p:spPr>
            <a:xfrm>
              <a:off x="5074920" y="512064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5074920" y="5120640"/>
              <a:ext cx="91440" cy="1024128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367528" y="5438566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Confiance par conception</a:t>
              </a:r>
              <a:endParaRPr lang="fr-FR" sz="1600" noProof="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L'ÉTAT Y GAGNE</a:t>
            </a:r>
            <a:endParaRPr lang="fr-FR" sz="125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leviers pour le pays et ses dirigeants</a:t>
            </a:r>
            <a:endParaRPr lang="fr-FR" sz="3100" noProof="0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4C4D09B-A568-EF34-5895-FE72B1BFFC9E}"/>
              </a:ext>
            </a:extLst>
          </p:cNvPr>
          <p:cNvGrpSpPr/>
          <p:nvPr/>
        </p:nvGrpSpPr>
        <p:grpSpPr>
          <a:xfrm>
            <a:off x="640080" y="1874520"/>
            <a:ext cx="3529584" cy="4343400"/>
            <a:chOff x="640080" y="1874520"/>
            <a:chExt cx="3529584" cy="4343400"/>
          </a:xfrm>
        </p:grpSpPr>
        <p:sp>
          <p:nvSpPr>
            <p:cNvPr id="4" name="Shape 2"/>
            <p:cNvSpPr/>
            <p:nvPr/>
          </p:nvSpPr>
          <p:spPr>
            <a:xfrm>
              <a:off x="64008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0080" y="1874520"/>
              <a:ext cx="91440" cy="43434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7504" y="1874520"/>
              <a:ext cx="327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E8B2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Souveraineté &amp; sécurité</a:t>
              </a:r>
              <a:endParaRPr lang="fr-FR" sz="24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9611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Surface d’attaque réduite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Données confiées à leur propriétaire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Indépendance</a:t>
              </a:r>
              <a:endParaRPr lang="fr-FR" sz="2000" noProof="0" dirty="0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6374DD82-FA38-3CBB-65CA-936BA615C084}"/>
              </a:ext>
            </a:extLst>
          </p:cNvPr>
          <p:cNvGrpSpPr/>
          <p:nvPr/>
        </p:nvGrpSpPr>
        <p:grpSpPr>
          <a:xfrm>
            <a:off x="4389120" y="1874520"/>
            <a:ext cx="3529584" cy="4343400"/>
            <a:chOff x="4389120" y="1874520"/>
            <a:chExt cx="3529584" cy="4343400"/>
          </a:xfrm>
        </p:grpSpPr>
        <p:sp>
          <p:nvSpPr>
            <p:cNvPr id="9" name="Shape 7"/>
            <p:cNvSpPr/>
            <p:nvPr/>
          </p:nvSpPr>
          <p:spPr>
            <a:xfrm>
              <a:off x="438912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38912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89120" y="1874520"/>
              <a:ext cx="91440" cy="4343400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36544" y="1874520"/>
              <a:ext cx="327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4FD1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Économie &amp; emploi</a:t>
              </a:r>
              <a:endParaRPr lang="fr-FR" sz="2400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64515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Rapidité &amp; fiabilité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Lisibilité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Stimulation d’un écosystème</a:t>
              </a:r>
              <a:endParaRPr lang="fr-FR" sz="20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D07BB24-6254-F06D-AAD5-401FB39B38ED}"/>
              </a:ext>
            </a:extLst>
          </p:cNvPr>
          <p:cNvGrpSpPr/>
          <p:nvPr/>
        </p:nvGrpSpPr>
        <p:grpSpPr>
          <a:xfrm>
            <a:off x="8138160" y="1874520"/>
            <a:ext cx="3529584" cy="4343400"/>
            <a:chOff x="8138160" y="1874520"/>
            <a:chExt cx="3529584" cy="4343400"/>
          </a:xfrm>
        </p:grpSpPr>
        <p:sp>
          <p:nvSpPr>
            <p:cNvPr id="14" name="Shape 12"/>
            <p:cNvSpPr/>
            <p:nvPr/>
          </p:nvSpPr>
          <p:spPr>
            <a:xfrm>
              <a:off x="813816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13816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138160" y="1874520"/>
              <a:ext cx="91440" cy="43434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85584" y="1874520"/>
              <a:ext cx="3382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E8B2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Inclusion &amp; modernisation</a:t>
              </a:r>
              <a:endParaRPr lang="fr-FR" sz="2400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39419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Réduction des biais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Lisibilité de l’évolution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Interopérabilité</a:t>
              </a:r>
              <a:endParaRPr lang="fr-FR" sz="2000" noProof="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23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fr-FR" sz="125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décisions pour engager le pays</a:t>
            </a:r>
            <a:endParaRPr lang="fr-FR" sz="3100" noProof="0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B36FE667-57A3-EE55-5928-8434407D8E3F}"/>
              </a:ext>
            </a:extLst>
          </p:cNvPr>
          <p:cNvGrpSpPr/>
          <p:nvPr/>
        </p:nvGrpSpPr>
        <p:grpSpPr>
          <a:xfrm>
            <a:off x="640080" y="1920240"/>
            <a:ext cx="10881360" cy="896112"/>
            <a:chOff x="640080" y="1920240"/>
            <a:chExt cx="10881360" cy="896112"/>
          </a:xfrm>
        </p:grpSpPr>
        <p:sp>
          <p:nvSpPr>
            <p:cNvPr id="5" name="Shape 3"/>
            <p:cNvSpPr/>
            <p:nvPr/>
          </p:nvSpPr>
          <p:spPr>
            <a:xfrm>
              <a:off x="640080" y="1920240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22960" y="1920240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fr-FR" sz="3000" noProof="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874520" y="2103120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057400" y="2039112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Publier le standard</a:t>
              </a:r>
              <a:endParaRPr lang="fr-FR" sz="1650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937760" y="2011680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Faire de HR-X une norme nationale ouverte pour les données professionnelles riches.</a:t>
              </a:r>
              <a:endParaRPr lang="fr-FR" sz="125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A328200B-8F23-F300-6291-CFA21B9C5285}"/>
              </a:ext>
            </a:extLst>
          </p:cNvPr>
          <p:cNvGrpSpPr/>
          <p:nvPr/>
        </p:nvGrpSpPr>
        <p:grpSpPr>
          <a:xfrm>
            <a:off x="640080" y="2953512"/>
            <a:ext cx="10881360" cy="896112"/>
            <a:chOff x="640080" y="2953512"/>
            <a:chExt cx="10881360" cy="896112"/>
          </a:xfrm>
        </p:grpSpPr>
        <p:sp>
          <p:nvSpPr>
            <p:cNvPr id="10" name="Shape 8"/>
            <p:cNvSpPr/>
            <p:nvPr/>
          </p:nvSpPr>
          <p:spPr>
            <a:xfrm>
              <a:off x="640080" y="2953512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22960" y="2953512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fr-FR" sz="3000" noProof="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874520" y="3136392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057400" y="3072384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Déployer sans stockage</a:t>
              </a:r>
              <a:endParaRPr lang="fr-FR" sz="1650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0" y="3044952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moteur public qui lit et écrit le HR-X sans jamais conserver la moindre donnée.</a:t>
              </a:r>
              <a:endParaRPr lang="fr-FR" sz="1250" noProof="0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A76E38B-92A5-C05E-DA67-D9CCFEADF7D0}"/>
              </a:ext>
            </a:extLst>
          </p:cNvPr>
          <p:cNvGrpSpPr/>
          <p:nvPr/>
        </p:nvGrpSpPr>
        <p:grpSpPr>
          <a:xfrm>
            <a:off x="640080" y="3986784"/>
            <a:ext cx="10881360" cy="896112"/>
            <a:chOff x="640080" y="3986784"/>
            <a:chExt cx="10881360" cy="896112"/>
          </a:xfrm>
        </p:grpSpPr>
        <p:sp>
          <p:nvSpPr>
            <p:cNvPr id="15" name="Shape 13"/>
            <p:cNvSpPr/>
            <p:nvPr/>
          </p:nvSpPr>
          <p:spPr>
            <a:xfrm>
              <a:off x="640080" y="3986784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3986784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fr-FR" sz="3000" noProof="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874520" y="4169664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057400" y="4105656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Donner l'exemple</a:t>
              </a:r>
              <a:endParaRPr lang="fr-FR" sz="1650" noProof="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937760" y="4078224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Recrutement avec une format qui simplifie tout pour tous.</a:t>
              </a:r>
              <a:endParaRPr lang="fr-FR" sz="1250" noProof="0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D3FD07D-2DDE-2DAE-3A1F-E83AB0689CE7}"/>
              </a:ext>
            </a:extLst>
          </p:cNvPr>
          <p:cNvGrpSpPr/>
          <p:nvPr/>
        </p:nvGrpSpPr>
        <p:grpSpPr>
          <a:xfrm>
            <a:off x="640080" y="5020056"/>
            <a:ext cx="10881360" cy="896112"/>
            <a:chOff x="640080" y="5020056"/>
            <a:chExt cx="10881360" cy="896112"/>
          </a:xfrm>
        </p:grpSpPr>
        <p:sp>
          <p:nvSpPr>
            <p:cNvPr id="20" name="Shape 18"/>
            <p:cNvSpPr/>
            <p:nvPr/>
          </p:nvSpPr>
          <p:spPr>
            <a:xfrm>
              <a:off x="640080" y="5020056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2960" y="5020056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fr-FR" sz="30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874520" y="5202936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057400" y="5138928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Mesurer &amp; étendre</a:t>
              </a:r>
              <a:endParaRPr lang="fr-FR" sz="1650" noProof="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37760" y="5111496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Piloter par la donnée : délais de recrutement, inclusion, adoption.</a:t>
              </a:r>
              <a:endParaRPr lang="fr-FR" sz="1250" noProof="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i="1" noProof="0" dirty="0">
                <a:solidFill>
                  <a:srgbClr val="E8B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 : Le format de données de carrières pour l’emploi de demain, dès aujourd’hui.</a:t>
            </a:r>
            <a:endParaRPr lang="fr-FR" sz="1500" noProof="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620</Words>
  <Application>Microsoft Office PowerPoint</Application>
  <PresentationFormat>Grand écran</PresentationFormat>
  <Paragraphs>106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Rémi Verschuur</dc:creator>
  <cp:lastModifiedBy>Rémi Verschuur</cp:lastModifiedBy>
  <cp:revision>4</cp:revision>
  <dcterms:created xsi:type="dcterms:W3CDTF">2026-06-17T04:49:57Z</dcterms:created>
  <dcterms:modified xsi:type="dcterms:W3CDTF">2026-07-26T13:29:24Z</dcterms:modified>
</cp:coreProperties>
</file>