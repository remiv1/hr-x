
<file path=[Content_Types].xml><?xml version="1.0" encoding="utf-8"?>
<Types xmlns="http://schemas.openxmlformats.org/package/2006/content-types">
  <Default Extension="jpeg" ContentType="image/jpeg"/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3" autoAdjust="0"/>
    <p:restoredTop sz="94660"/>
  </p:normalViewPr>
  <p:slideViewPr>
    <p:cSldViewPr snapToGrid="0">
      <p:cViewPr varScale="1">
        <p:scale>
          <a:sx n="69" d="100"/>
          <a:sy n="69" d="100"/>
        </p:scale>
        <p:origin x="57" y="6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4695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agent/turn2/workspace/images/image-aa1ac7c771e3dc45a2f1378847368f12.jpg"/>
          <p:cNvPicPr>
            <a:picLocks noChangeAspect="1"/>
          </p:cNvPicPr>
          <p:nvPr/>
        </p:nvPicPr>
        <p:blipFill>
          <a:blip r:embed="rId3"/>
          <a:srcRect l="21853" r="21853"/>
          <a:stretch/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0" y="0"/>
            <a:ext cx="2926080" cy="6858000"/>
          </a:xfrm>
          <a:prstGeom prst="rect">
            <a:avLst/>
          </a:prstGeom>
          <a:solidFill>
            <a:srgbClr val="0B1733">
              <a:alpha val="8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4572000" y="0"/>
            <a:ext cx="1828800" cy="6858000"/>
          </a:xfrm>
          <a:prstGeom prst="rect">
            <a:avLst/>
          </a:prstGeom>
          <a:solidFill>
            <a:srgbClr val="0B1733">
              <a:alpha val="4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0B1733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777240" cy="64008"/>
          </a:xfrm>
          <a:prstGeom prst="rect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40080" y="868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2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OUVERT DE DONNÉES PROFESSIONNELLES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03504" y="150876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HR-X</a:t>
            </a:r>
            <a:endParaRPr lang="en-US" sz="9200" dirty="0"/>
          </a:p>
        </p:txBody>
      </p:sp>
      <p:sp>
        <p:nvSpPr>
          <p:cNvPr id="9" name="Text 6"/>
          <p:cNvSpPr/>
          <p:nvPr/>
        </p:nvSpPr>
        <p:spPr>
          <a:xfrm>
            <a:off x="658368" y="28803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600" i="1" dirty="0">
                <a:solidFill>
                  <a:srgbClr val="E8B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format de données qui remplace le CV.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658368" y="3977640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6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standard pour des données professionnelles riches et profondes — créé et lu par une plateforme qui ne conserve aucune donnée.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CVkiller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8B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CV : un format pauvre et plat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CV compresse une carrière entière en une page non structurée, subjective et illisible par les machines. Le problème n'est pas le candidat — c'est le format.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615184" cy="2331720"/>
          </a:xfrm>
          <a:prstGeom prst="rect">
            <a:avLst/>
          </a:prstGeom>
          <a:solidFill>
            <a:srgbClr val="1B2D52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2615184" cy="82296"/>
          </a:xfrm>
          <a:prstGeom prst="rect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685800" y="274320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E8B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page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841248" y="365760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vie professionnelle réduite à un résumé plat et subjectif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74720" y="2423160"/>
            <a:ext cx="2615184" cy="2331720"/>
          </a:xfrm>
          <a:prstGeom prst="rect">
            <a:avLst/>
          </a:prstGeom>
          <a:solidFill>
            <a:srgbClr val="1B2D52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474720" y="2423160"/>
            <a:ext cx="2615184" cy="82296"/>
          </a:xfrm>
          <a:prstGeom prst="rect">
            <a:avLst/>
          </a:prstGeom>
          <a:solidFill>
            <a:srgbClr val="4FD1E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520440" y="274320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4FD1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53 %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3675888" y="365760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candidatures contiennent au moins une information erronée (SHRM)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09360" y="2423160"/>
            <a:ext cx="2615184" cy="2331720"/>
          </a:xfrm>
          <a:prstGeom prst="rect">
            <a:avLst/>
          </a:prstGeom>
          <a:solidFill>
            <a:srgbClr val="1B2D52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309360" y="2423160"/>
            <a:ext cx="2615184" cy="82296"/>
          </a:xfrm>
          <a:prstGeom prst="rect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355080" y="274320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E8B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61 %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6510528" y="365760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actifs à reconvertir d'ici 2027 : le CV fige des compétences déjà périmées (WEF)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144000" y="2423160"/>
            <a:ext cx="2615184" cy="2331720"/>
          </a:xfrm>
          <a:prstGeom prst="rect">
            <a:avLst/>
          </a:prstGeom>
          <a:solidFill>
            <a:srgbClr val="1B2D52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9144000" y="2423160"/>
            <a:ext cx="2615184" cy="82296"/>
          </a:xfrm>
          <a:prstGeom prst="rect">
            <a:avLst/>
          </a:prstGeom>
          <a:solidFill>
            <a:srgbClr val="4FD1E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9189720" y="274320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4FD1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345168" y="365760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 structurée et comparable : ni lisible par les machines, ni interopérable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029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i="1" dirty="0">
                <a:solidFill>
                  <a:srgbClr val="9FB0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des talents écartés à tort, des recrutements lents et des données de compétences fragmentées, invérifiables et non souveraines.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430000" y="63550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FB0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agent/turn2/workspace/images/image-8ce9a265a542bcaa91806bc567f2e273.jpg"/>
          <p:cNvPicPr>
            <a:picLocks noChangeAspect="1"/>
          </p:cNvPicPr>
          <p:nvPr/>
        </p:nvPicPr>
        <p:blipFill>
          <a:blip r:embed="rId3"/>
          <a:srcRect l="26520" r="26520"/>
          <a:stretch/>
        </p:blipFill>
        <p:spPr>
          <a:xfrm>
            <a:off x="7360920" y="0"/>
            <a:ext cx="483077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66560" y="0"/>
            <a:ext cx="1188720" cy="6858000"/>
          </a:xfrm>
          <a:prstGeom prst="rect">
            <a:avLst/>
          </a:prstGeom>
          <a:solidFill>
            <a:srgbClr val="0B1733">
              <a:alpha val="7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7040880" cy="6858000"/>
          </a:xfrm>
          <a:prstGeom prst="rect">
            <a:avLst/>
          </a:prstGeom>
          <a:solidFill>
            <a:srgbClr val="0B1733">
              <a:alpha val="96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8B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PROPOSITION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640080" y="749808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HR-X : des données riches et profondes</a:t>
            </a:r>
            <a:endParaRPr lang="en-US" sz="3100" dirty="0"/>
          </a:p>
        </p:txBody>
      </p:sp>
      <p:sp>
        <p:nvSpPr>
          <p:cNvPr id="7" name="Text 4"/>
          <p:cNvSpPr/>
          <p:nvPr/>
        </p:nvSpPr>
        <p:spPr>
          <a:xfrm>
            <a:off x="640080" y="1691640"/>
            <a:ext cx="6263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standard ouvert qui décrit une trajectoire professionnelle en profondeur — bien au-delà des dates et des intitulés de poste.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743200"/>
            <a:ext cx="6263640" cy="1024128"/>
          </a:xfrm>
          <a:prstGeom prst="rect">
            <a:avLst/>
          </a:prstGeom>
          <a:solidFill>
            <a:srgbClr val="1B2D52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841248" y="2999232"/>
            <a:ext cx="512064" cy="512064"/>
          </a:xfrm>
          <a:prstGeom prst="ellipse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841248" y="2999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12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554480" y="2871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Profondeur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554480" y="320040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Compétences, réalisations mesurées, contexte et preuves — pas seulement des titres.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40080" y="3931920"/>
            <a:ext cx="6263640" cy="1024128"/>
          </a:xfrm>
          <a:prstGeom prst="rect">
            <a:avLst/>
          </a:prstGeom>
          <a:solidFill>
            <a:srgbClr val="1B2D52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1"/>
          <p:cNvSpPr/>
          <p:nvPr/>
        </p:nvSpPr>
        <p:spPr>
          <a:xfrm>
            <a:off x="841248" y="4187952"/>
            <a:ext cx="512064" cy="512064"/>
          </a:xfrm>
          <a:prstGeom prst="ellipse">
            <a:avLst/>
          </a:prstGeom>
          <a:solidFill>
            <a:srgbClr val="4FD1E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841248" y="41879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12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554480" y="40599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554480" y="438912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ouvert et lisible par les machines : données comparables et interopérables.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40080" y="5120640"/>
            <a:ext cx="6263640" cy="1024128"/>
          </a:xfrm>
          <a:prstGeom prst="rect">
            <a:avLst/>
          </a:prstGeom>
          <a:solidFill>
            <a:srgbClr val="1B2D52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841248" y="5376672"/>
            <a:ext cx="512064" cy="512064"/>
          </a:xfrm>
          <a:prstGeom prst="ellipse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841248" y="53766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12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554480" y="52486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Vivant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554480" y="557784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continues et actualisables au fil des formations, projets et mobilités.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11430000" y="63550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FB0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agent/turn2/workspace/images/image-d1b8bd1c7c6f52fed723722a0b172cc0.jpg"/>
          <p:cNvPicPr>
            <a:picLocks noChangeAspect="1"/>
          </p:cNvPicPr>
          <p:nvPr/>
        </p:nvPicPr>
        <p:blipFill>
          <a:blip r:embed="rId3"/>
          <a:srcRect l="27778" r="27778"/>
          <a:stretch/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931920" y="0"/>
            <a:ext cx="1188720" cy="6858000"/>
          </a:xfrm>
          <a:prstGeom prst="rect">
            <a:avLst/>
          </a:prstGeom>
          <a:solidFill>
            <a:srgbClr val="0B1733">
              <a:alpha val="7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0B1733">
              <a:alpha val="96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5074920" y="45720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8B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RÉTENTION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074920" y="749808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3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plateforme qui ne conserve aucune donnée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5074920" y="182880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HR-X est créé et lu à la volée. La plateforme n'est qu'un moteur de format : elle écrit et lit le HR-X, mais ne stocke jamais rien.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074920" y="2743200"/>
            <a:ext cx="6629400" cy="1024128"/>
          </a:xfrm>
          <a:prstGeom prst="rect">
            <a:avLst/>
          </a:prstGeom>
          <a:solidFill>
            <a:srgbClr val="1B2D52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5074920" y="2743200"/>
            <a:ext cx="91440" cy="1024128"/>
          </a:xfrm>
          <a:prstGeom prst="rect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367528" y="2862072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base centrale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367528" y="3218688"/>
            <a:ext cx="6172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coffre de données personnelles à protéger ni à pirater.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74920" y="3931920"/>
            <a:ext cx="6629400" cy="1024128"/>
          </a:xfrm>
          <a:prstGeom prst="rect">
            <a:avLst/>
          </a:prstGeom>
          <a:solidFill>
            <a:srgbClr val="1B2D52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5074920" y="3931920"/>
            <a:ext cx="91440" cy="1024128"/>
          </a:xfrm>
          <a:prstGeom prst="rect">
            <a:avLst/>
          </a:prstGeom>
          <a:solidFill>
            <a:srgbClr val="4FD1E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367528" y="4050792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Souveraineté du citoyen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367528" y="4407408"/>
            <a:ext cx="6172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donnée reste détenue par la personne et ses sources ; la plateforme ne fait que la transformer.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74920" y="5120640"/>
            <a:ext cx="6629400" cy="1024128"/>
          </a:xfrm>
          <a:prstGeom prst="rect">
            <a:avLst/>
          </a:prstGeom>
          <a:solidFill>
            <a:srgbClr val="1B2D52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4"/>
          <p:cNvSpPr/>
          <p:nvPr/>
        </p:nvSpPr>
        <p:spPr>
          <a:xfrm>
            <a:off x="5074920" y="5120640"/>
            <a:ext cx="91440" cy="1024128"/>
          </a:xfrm>
          <a:prstGeom prst="rect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367528" y="5239512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par conception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367528" y="5596128"/>
            <a:ext cx="6172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« honeypot », pas de revente de données, conformité native au RGPD.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430000" y="63550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FB0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8B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L'ÉTAT Y GAGNE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leviers pour le pays et ses dirigeants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9584" cy="4343400"/>
          </a:xfrm>
          <a:prstGeom prst="rect">
            <a:avLst/>
          </a:prstGeom>
          <a:solidFill>
            <a:srgbClr val="1B2D52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529584" cy="640080"/>
          </a:xfrm>
          <a:prstGeom prst="rect">
            <a:avLst/>
          </a:prstGeom>
          <a:solidFill>
            <a:srgbClr val="1220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91440" cy="4343400"/>
          </a:xfrm>
          <a:prstGeom prst="rect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96112" y="187452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B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Souveraineté &amp; sécurité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96112" y="2715768"/>
            <a:ext cx="3054096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base nationale à pirater : surface d'attaque quasi nulle</a:t>
            </a:r>
            <a:endParaRPr lang="en-US" sz="1300" dirty="0"/>
          </a:p>
          <a:p>
            <a:pPr marL="177800" indent="-1778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détenues par les citoyens et leurs sources, jamais centralisées</a:t>
            </a:r>
            <a:endParaRPr lang="en-US" sz="1300" dirty="0"/>
          </a:p>
          <a:p>
            <a:pPr marL="177800" indent="-1778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Indépendance vis-à-vis des plateformes et formats propriétaires étrangers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874520"/>
            <a:ext cx="3529584" cy="4343400"/>
          </a:xfrm>
          <a:prstGeom prst="rect">
            <a:avLst/>
          </a:prstGeom>
          <a:solidFill>
            <a:srgbClr val="1B2D52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389120" y="1874520"/>
            <a:ext cx="3529584" cy="640080"/>
          </a:xfrm>
          <a:prstGeom prst="rect">
            <a:avLst/>
          </a:prstGeom>
          <a:solidFill>
            <a:srgbClr val="1220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389120" y="1874520"/>
            <a:ext cx="91440" cy="4343400"/>
          </a:xfrm>
          <a:prstGeom prst="rect">
            <a:avLst/>
          </a:prstGeom>
          <a:solidFill>
            <a:srgbClr val="4FD1E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645152" y="187452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&amp; emploi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45152" y="2715768"/>
            <a:ext cx="3054096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Appariement par données riches et comparables : postes pourvus plus vite</a:t>
            </a:r>
            <a:endParaRPr lang="en-US" sz="1300" dirty="0"/>
          </a:p>
          <a:p>
            <a:pPr marL="177800" indent="-1778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Productivité et mobilité d'une main-d'œuvre enfin lisible</a:t>
            </a:r>
            <a:endParaRPr lang="en-US" sz="1300" dirty="0"/>
          </a:p>
          <a:p>
            <a:pPr marL="177800" indent="-1778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standard ouvert qui stimule un écosystème national d'outils RH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874520"/>
            <a:ext cx="3529584" cy="4343400"/>
          </a:xfrm>
          <a:prstGeom prst="rect">
            <a:avLst/>
          </a:prstGeom>
          <a:solidFill>
            <a:srgbClr val="1B2D52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8138160" y="1874520"/>
            <a:ext cx="3529584" cy="640080"/>
          </a:xfrm>
          <a:prstGeom prst="rect">
            <a:avLst/>
          </a:prstGeom>
          <a:solidFill>
            <a:srgbClr val="1220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138160" y="1874520"/>
            <a:ext cx="91440" cy="4343400"/>
          </a:xfrm>
          <a:prstGeom prst="rect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8394192" y="187452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B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 &amp; modernisation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94192" y="2715768"/>
            <a:ext cx="3054096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Recrutement « compétences d'abord » : moins de biais liés au diplôme</a:t>
            </a:r>
            <a:endParaRPr lang="en-US" sz="1300" dirty="0"/>
          </a:p>
          <a:p>
            <a:pPr marL="177800" indent="-1778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Reconnaissance de l'apprentissage informel et de la formation continue</a:t>
            </a:r>
            <a:endParaRPr lang="en-US" sz="1300" dirty="0"/>
          </a:p>
          <a:p>
            <a:pPr marL="177800" indent="-1778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publics interopérables autour d'un format commun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430000" y="63550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FB0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8B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FEUILLE DE ROUTE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Quatre décisions pour engager le pays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881360" cy="896112"/>
          </a:xfrm>
          <a:prstGeom prst="rect">
            <a:avLst/>
          </a:prstGeom>
          <a:solidFill>
            <a:srgbClr val="12203F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1005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B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874520" y="2103120"/>
            <a:ext cx="22860" cy="530352"/>
          </a:xfrm>
          <a:prstGeom prst="rect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057400" y="203911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Publier le standard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937760" y="2011680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de HR-X une norme nationale ouverte pour les données professionnelles riches.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953512"/>
            <a:ext cx="10881360" cy="896112"/>
          </a:xfrm>
          <a:prstGeom prst="rect">
            <a:avLst/>
          </a:prstGeom>
          <a:solidFill>
            <a:srgbClr val="12203F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822960" y="2953512"/>
            <a:ext cx="1005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FD1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1874520" y="3136392"/>
            <a:ext cx="22860" cy="530352"/>
          </a:xfrm>
          <a:prstGeom prst="rect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057400" y="307238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Déployer sans stockage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937760" y="3044952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moteur public qui lit et écrit le HR-X sans jamais conserver la moindre donnée.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986784"/>
            <a:ext cx="10881360" cy="896112"/>
          </a:xfrm>
          <a:prstGeom prst="rect">
            <a:avLst/>
          </a:prstGeom>
          <a:solidFill>
            <a:srgbClr val="12203F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822960" y="3986784"/>
            <a:ext cx="1005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B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1874520" y="4169664"/>
            <a:ext cx="22860" cy="530352"/>
          </a:xfrm>
          <a:prstGeom prst="rect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2057400" y="410565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l'exemple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937760" y="4078224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Recrutement de la fonction publique et marchés publics au format HR-X.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020056"/>
            <a:ext cx="10881360" cy="896112"/>
          </a:xfrm>
          <a:prstGeom prst="rect">
            <a:avLst/>
          </a:prstGeom>
          <a:solidFill>
            <a:srgbClr val="12203F"/>
          </a:solidFill>
          <a:ln/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822960" y="5020056"/>
            <a:ext cx="1005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FD1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1874520" y="5202936"/>
            <a:ext cx="22860" cy="530352"/>
          </a:xfrm>
          <a:prstGeom prst="rect">
            <a:avLst/>
          </a:prstGeom>
          <a:solidFill>
            <a:srgbClr val="E8B2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2057400" y="513892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&amp; étendre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4937760" y="5111496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Piloter par la donnée : délais de recrutement, inclusion, adoption — puis élargir aux secteurs clés.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E8B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HR-X : le format ouvert qui tue le CV — sans jamais retenir vos données.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0" y="63550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FB0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549</Words>
  <Application>Microsoft Office PowerPoint</Application>
  <PresentationFormat>Grand écran</PresentationFormat>
  <Paragraphs>78</Paragraphs>
  <Slides>6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Rémi Verschuur</dc:creator>
  <cp:lastModifiedBy>Rémi Verschuur</cp:lastModifiedBy>
  <cp:revision>1</cp:revision>
  <dcterms:created xsi:type="dcterms:W3CDTF">2026-06-17T04:49:57Z</dcterms:created>
  <dcterms:modified xsi:type="dcterms:W3CDTF">2026-06-17T05:00:49Z</dcterms:modified>
</cp:coreProperties>
</file>