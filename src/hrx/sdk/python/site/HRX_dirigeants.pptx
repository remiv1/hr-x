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77637" autoAdjust="0"/>
  </p:normalViewPr>
  <p:slideViewPr>
    <p:cSldViewPr snapToGrid="0">
      <p:cViewPr>
        <p:scale>
          <a:sx n="77" d="100"/>
          <a:sy n="77" d="100"/>
        </p:scale>
        <p:origin x="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Profondeur</a:t>
            </a:r>
            <a:r>
              <a:rPr lang="en-US" dirty="0"/>
              <a:t>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Compétences, réalisations mesurées, contexte et preuves — pas seulement des titres.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Structure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ouvert et lisible par les machines : données comparables et interopérables.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Vivant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continues et actualisables au fil des formations, projets et mobilités.</a:t>
            </a:r>
            <a:endParaRPr lang="fr-FR" sz="1200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HR-X est créé et lu à la volée. La plateforme n'est qu'un moteur de format : elle écrit et lit le HR-X, mais ne stocke jamais rien.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Aucune</a:t>
            </a:r>
            <a:r>
              <a:rPr lang="en-US" dirty="0"/>
              <a:t> base centrale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coffre de données personnelles à protéger ni à pirater.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Souveraineté</a:t>
            </a:r>
            <a:r>
              <a:rPr lang="en-US" dirty="0"/>
              <a:t> du </a:t>
            </a:r>
            <a:r>
              <a:rPr lang="en-US" dirty="0" err="1"/>
              <a:t>citoyen</a:t>
            </a:r>
            <a:r>
              <a:rPr lang="en-US" dirty="0"/>
              <a:t>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reste détenue par la personne et ses sources ; la plateforme (ou le programme) ne fait que la transformer.</a:t>
            </a:r>
            <a:endParaRPr lang="fr-FR" sz="1200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Confiance par conception : </a:t>
            </a:r>
            <a:r>
              <a:rPr lang="fr-FR" sz="12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« honeypot », pas de revente de données, conformité native au RGPD.</a:t>
            </a:r>
            <a:endParaRPr lang="fr-FR" sz="1200" noProof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 err="1"/>
              <a:t>Souveraineté</a:t>
            </a:r>
            <a:r>
              <a:rPr lang="en-US" dirty="0"/>
              <a:t> &amp; sécurité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Surface </a:t>
            </a:r>
            <a:r>
              <a:rPr lang="en-US" dirty="0" err="1"/>
              <a:t>d’attaque</a:t>
            </a:r>
            <a:r>
              <a:rPr lang="en-US" dirty="0"/>
              <a:t> </a:t>
            </a:r>
            <a:r>
              <a:rPr lang="en-US" dirty="0" err="1"/>
              <a:t>réduite</a:t>
            </a:r>
            <a:r>
              <a:rPr lang="en-US" dirty="0"/>
              <a:t> du fait de </a:t>
            </a:r>
            <a:r>
              <a:rPr lang="en-US" dirty="0" err="1"/>
              <a:t>l’absence</a:t>
            </a:r>
            <a:r>
              <a:rPr lang="en-US" dirty="0"/>
              <a:t> de base de données </a:t>
            </a:r>
            <a:r>
              <a:rPr lang="en-US" dirty="0" err="1"/>
              <a:t>nationale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un format de données.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Les données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détenues</a:t>
            </a:r>
            <a:r>
              <a:rPr lang="en-US" dirty="0"/>
              <a:t> par le </a:t>
            </a:r>
            <a:r>
              <a:rPr lang="en-US" dirty="0" err="1"/>
              <a:t>citoyen</a:t>
            </a:r>
            <a:r>
              <a:rPr lang="en-US" dirty="0"/>
              <a:t> et </a:t>
            </a:r>
            <a:r>
              <a:rPr lang="en-US" dirty="0" err="1"/>
              <a:t>leurs</a:t>
            </a:r>
            <a:r>
              <a:rPr lang="en-US" dirty="0"/>
              <a:t> sources, jamais </a:t>
            </a:r>
            <a:r>
              <a:rPr lang="en-US" dirty="0" err="1"/>
              <a:t>centralisée</a:t>
            </a:r>
            <a:r>
              <a:rPr lang="en-US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Indépendance</a:t>
            </a:r>
            <a:r>
              <a:rPr lang="en-US" dirty="0"/>
              <a:t> vis-à-vis de </a:t>
            </a:r>
            <a:r>
              <a:rPr lang="en-US" dirty="0" err="1"/>
              <a:t>plateformes</a:t>
            </a:r>
            <a:r>
              <a:rPr lang="en-US" dirty="0"/>
              <a:t> et formats propriétaire étranger. La France, tête de file d’un movement duplicable.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err="1"/>
              <a:t>Economie</a:t>
            </a:r>
            <a:r>
              <a:rPr lang="en-US" dirty="0"/>
              <a:t> et employ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Données riches, profondes et comparables : poste </a:t>
            </a:r>
            <a:r>
              <a:rPr lang="en-US" dirty="0" err="1"/>
              <a:t>pourvus</a:t>
            </a:r>
            <a:r>
              <a:rPr lang="en-US" dirty="0"/>
              <a:t> plus </a:t>
            </a:r>
            <a:r>
              <a:rPr lang="en-US" dirty="0" err="1"/>
              <a:t>rapidement</a:t>
            </a:r>
            <a:r>
              <a:rPr lang="en-US" dirty="0"/>
              <a:t> par les </a:t>
            </a:r>
            <a:r>
              <a:rPr lang="en-US" dirty="0" err="1"/>
              <a:t>bonnes</a:t>
            </a:r>
            <a:r>
              <a:rPr lang="en-US" dirty="0"/>
              <a:t> </a:t>
            </a:r>
            <a:r>
              <a:rPr lang="en-US" dirty="0" err="1"/>
              <a:t>personnes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Productivité</a:t>
            </a:r>
            <a:r>
              <a:rPr lang="en-US" dirty="0"/>
              <a:t> et </a:t>
            </a:r>
            <a:r>
              <a:rPr lang="en-US" dirty="0" err="1"/>
              <a:t>mobilité</a:t>
            </a:r>
            <a:r>
              <a:rPr lang="en-US" dirty="0"/>
              <a:t> </a:t>
            </a:r>
            <a:r>
              <a:rPr lang="en-US" dirty="0" err="1"/>
              <a:t>lisible</a:t>
            </a:r>
            <a:endParaRPr lang="en-US" dirty="0"/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Standard </a:t>
            </a:r>
            <a:r>
              <a:rPr lang="en-US" dirty="0" err="1"/>
              <a:t>ouvert</a:t>
            </a:r>
            <a:r>
              <a:rPr lang="en-US" dirty="0"/>
              <a:t> et </a:t>
            </a:r>
            <a:r>
              <a:rPr lang="en-US" dirty="0" err="1"/>
              <a:t>enrichissable</a:t>
            </a:r>
            <a:r>
              <a:rPr lang="en-US" dirty="0"/>
              <a:t> à vocation </a:t>
            </a:r>
            <a:r>
              <a:rPr lang="en-US" dirty="0" err="1"/>
              <a:t>internationale</a:t>
            </a:r>
            <a:r>
              <a:rPr lang="en-US" dirty="0"/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/>
              <a:t>Inclusion et modernization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 err="1"/>
              <a:t>Recrutement</a:t>
            </a:r>
            <a:r>
              <a:rPr lang="en-US" dirty="0"/>
              <a:t> </a:t>
            </a:r>
            <a:r>
              <a:rPr lang="en-US" dirty="0" err="1"/>
              <a:t>lié</a:t>
            </a:r>
            <a:r>
              <a:rPr lang="en-US" dirty="0"/>
              <a:t> aux </a:t>
            </a:r>
            <a:r>
              <a:rPr lang="en-US" dirty="0" err="1"/>
              <a:t>compétences</a:t>
            </a:r>
            <a:r>
              <a:rPr lang="en-US" dirty="0"/>
              <a:t> </a:t>
            </a:r>
            <a:r>
              <a:rPr lang="en-US" dirty="0" err="1"/>
              <a:t>plutôt</a:t>
            </a:r>
            <a:r>
              <a:rPr lang="en-US" dirty="0"/>
              <a:t> </a:t>
            </a:r>
            <a:r>
              <a:rPr lang="en-US" dirty="0" err="1"/>
              <a:t>qu’au</a:t>
            </a:r>
            <a:r>
              <a:rPr lang="en-US" dirty="0"/>
              <a:t> diplôme qui </a:t>
            </a:r>
            <a:r>
              <a:rPr lang="en-US" dirty="0" err="1"/>
              <a:t>crée</a:t>
            </a:r>
            <a:r>
              <a:rPr lang="en-US" dirty="0"/>
              <a:t> des </a:t>
            </a:r>
            <a:r>
              <a:rPr lang="en-US" dirty="0" err="1"/>
              <a:t>biais</a:t>
            </a:r>
            <a:r>
              <a:rPr lang="en-US" dirty="0"/>
              <a:t>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Reconnaissance de </a:t>
            </a:r>
            <a:r>
              <a:rPr lang="en-US" dirty="0" err="1"/>
              <a:t>l’apprentissage</a:t>
            </a:r>
            <a:r>
              <a:rPr lang="en-US" dirty="0"/>
              <a:t> </a:t>
            </a:r>
            <a:r>
              <a:rPr lang="en-US" dirty="0" err="1"/>
              <a:t>informel</a:t>
            </a:r>
            <a:r>
              <a:rPr lang="en-US" dirty="0"/>
              <a:t> et de la formation continue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Services publics </a:t>
            </a:r>
            <a:r>
              <a:rPr lang="en-US" dirty="0" err="1"/>
              <a:t>interopérables</a:t>
            </a:r>
            <a:r>
              <a:rPr lang="en-US" dirty="0"/>
              <a:t> </a:t>
            </a:r>
            <a:r>
              <a:rPr lang="en-US" dirty="0" err="1"/>
              <a:t>autour</a:t>
            </a:r>
            <a:r>
              <a:rPr lang="en-US" dirty="0"/>
              <a:t> d’un format </a:t>
            </a:r>
            <a:r>
              <a:rPr lang="en-US" dirty="0" err="1"/>
              <a:t>commun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69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2/workspace/images/image-aa1ac7c771e3dc45a2f1378847368f12.jpg"/>
          <p:cNvPicPr>
            <a:picLocks noChangeAspect="1"/>
          </p:cNvPicPr>
          <p:nvPr/>
        </p:nvPicPr>
        <p:blipFill>
          <a:blip r:embed="rId3"/>
          <a:srcRect l="21853" r="21853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2926080" cy="6858000"/>
          </a:xfrm>
          <a:prstGeom prst="rect">
            <a:avLst/>
          </a:prstGeom>
          <a:solidFill>
            <a:srgbClr val="0B1733">
              <a:alpha val="82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4572000" y="0"/>
            <a:ext cx="1828800" cy="6858000"/>
          </a:xfrm>
          <a:prstGeom prst="rect">
            <a:avLst/>
          </a:prstGeom>
          <a:solidFill>
            <a:srgbClr val="0B1733">
              <a:alpha val="4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B1733">
              <a:alpha val="92000"/>
            </a:srgbClr>
          </a:solidFill>
          <a:ln/>
        </p:spPr>
        <p:txBody>
          <a:bodyPr/>
          <a:lstStyle/>
          <a:p>
            <a:endParaRPr lang="fr-FR" noProof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77240" cy="64008"/>
          </a:xfrm>
          <a:prstGeom prst="rect">
            <a:avLst/>
          </a:prstGeom>
          <a:solidFill>
            <a:srgbClr val="E8B23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220" noProof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OUVERT DE DONNÉES PROFESSIONNELLES</a:t>
            </a:r>
            <a:endParaRPr lang="fr-F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603504" y="150876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</a:t>
            </a:r>
            <a:endParaRPr lang="fr-FR" sz="9200" noProof="0" dirty="0"/>
          </a:p>
        </p:txBody>
      </p:sp>
      <p:sp>
        <p:nvSpPr>
          <p:cNvPr id="9" name="Text 6"/>
          <p:cNvSpPr/>
          <p:nvPr/>
        </p:nvSpPr>
        <p:spPr>
          <a:xfrm>
            <a:off x="658368" y="2880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fr-FR" sz="2600" i="1" noProof="0" dirty="0">
                <a:solidFill>
                  <a:srgbClr val="E8B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format de données qui remplace le CV.</a:t>
            </a:r>
            <a:endParaRPr lang="fr-FR" sz="2600" noProof="0" dirty="0"/>
          </a:p>
        </p:txBody>
      </p:sp>
      <p:sp>
        <p:nvSpPr>
          <p:cNvPr id="10" name="Text 7"/>
          <p:cNvSpPr/>
          <p:nvPr/>
        </p:nvSpPr>
        <p:spPr>
          <a:xfrm>
            <a:off x="658368" y="3977639"/>
            <a:ext cx="5212080" cy="162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standard pour des données professionnelles :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Profondes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et lu par une plateforme</a:t>
            </a:r>
          </a:p>
          <a:p>
            <a:pPr marL="285750" indent="-285750">
              <a:lnSpc>
                <a:spcPts val="2300"/>
              </a:lnSpc>
              <a:buFont typeface="Arial" panose="020B0604020202020204" pitchFamily="34" charset="0"/>
              <a:buChar char="•"/>
            </a:pPr>
            <a:r>
              <a:rPr lang="fr-FR" sz="1600" noProof="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ne conserve aucune donnée.</a:t>
            </a:r>
            <a:endParaRPr lang="fr-FR" sz="1600" noProof="0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4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fr-FR" sz="1250" noProof="0"/>
          </a:p>
        </p:txBody>
      </p:sp>
      <p:sp>
        <p:nvSpPr>
          <p:cNvPr id="3" name="Text 1"/>
          <p:cNvSpPr/>
          <p:nvPr/>
        </p:nvSpPr>
        <p:spPr>
          <a:xfrm>
            <a:off x="640080" y="82853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CV : un format pauvre et plat</a:t>
            </a:r>
            <a:endParaRPr lang="fr-FR" sz="3100" noProof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8FEFE573-5ACB-6BFC-C033-7B06644B2C15}"/>
              </a:ext>
            </a:extLst>
          </p:cNvPr>
          <p:cNvGrpSpPr/>
          <p:nvPr/>
        </p:nvGrpSpPr>
        <p:grpSpPr>
          <a:xfrm>
            <a:off x="640080" y="1945321"/>
            <a:ext cx="2615184" cy="2331720"/>
            <a:chOff x="640080" y="1945321"/>
            <a:chExt cx="2615184" cy="2331720"/>
          </a:xfrm>
        </p:grpSpPr>
        <p:sp>
          <p:nvSpPr>
            <p:cNvPr id="5" name="Shape 3"/>
            <p:cNvSpPr/>
            <p:nvPr/>
          </p:nvSpPr>
          <p:spPr>
            <a:xfrm>
              <a:off x="64008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0080" y="1945321"/>
              <a:ext cx="2615184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 page</a:t>
              </a:r>
              <a:endParaRPr lang="fr-FR" sz="33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4124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Une vie professionnelle réduite à un résumé plat et subjectif</a:t>
              </a:r>
              <a:endParaRPr lang="fr-FR" sz="1250" noProof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C275B36-EB62-B4C4-381C-4A3888C7BB47}"/>
              </a:ext>
            </a:extLst>
          </p:cNvPr>
          <p:cNvGrpSpPr/>
          <p:nvPr/>
        </p:nvGrpSpPr>
        <p:grpSpPr>
          <a:xfrm>
            <a:off x="3474720" y="1945321"/>
            <a:ext cx="2615184" cy="2331720"/>
            <a:chOff x="3474720" y="1945321"/>
            <a:chExt cx="2615184" cy="2331720"/>
          </a:xfrm>
        </p:grpSpPr>
        <p:sp>
          <p:nvSpPr>
            <p:cNvPr id="9" name="Shape 7"/>
            <p:cNvSpPr/>
            <p:nvPr/>
          </p:nvSpPr>
          <p:spPr>
            <a:xfrm>
              <a:off x="347472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74720" y="1945321"/>
              <a:ext cx="2615184" cy="82296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1" name="Text 9"/>
            <p:cNvSpPr/>
            <p:nvPr/>
          </p:nvSpPr>
          <p:spPr>
            <a:xfrm>
              <a:off x="352044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53 %</a:t>
              </a:r>
              <a:endParaRPr lang="fr-FR" sz="3300" noProof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7588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candidatures contiennent au moins une information erronée (SHRM)</a:t>
              </a:r>
              <a:endParaRPr lang="fr-FR" sz="1250" noProof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DD33C2A1-9C63-4C6D-1FD9-2CC16CD187A4}"/>
              </a:ext>
            </a:extLst>
          </p:cNvPr>
          <p:cNvGrpSpPr/>
          <p:nvPr/>
        </p:nvGrpSpPr>
        <p:grpSpPr>
          <a:xfrm>
            <a:off x="6309360" y="1945321"/>
            <a:ext cx="2615184" cy="2331720"/>
            <a:chOff x="6309360" y="1945321"/>
            <a:chExt cx="2615184" cy="2331720"/>
          </a:xfrm>
        </p:grpSpPr>
        <p:sp>
          <p:nvSpPr>
            <p:cNvPr id="13" name="Shape 11"/>
            <p:cNvSpPr/>
            <p:nvPr/>
          </p:nvSpPr>
          <p:spPr>
            <a:xfrm>
              <a:off x="630936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309360" y="1945321"/>
              <a:ext cx="2615184" cy="82296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35508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61 %</a:t>
              </a:r>
              <a:endParaRPr lang="fr-FR" sz="3300" noProof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1052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 actifs à reconvertir d'ici 2027 : le CV fige des compétences déjà périmées (WEF)</a:t>
              </a:r>
              <a:endParaRPr lang="fr-FR" sz="1250" noProof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C41484F6-3807-E470-3CA0-B5155093432F}"/>
              </a:ext>
            </a:extLst>
          </p:cNvPr>
          <p:cNvGrpSpPr/>
          <p:nvPr/>
        </p:nvGrpSpPr>
        <p:grpSpPr>
          <a:xfrm>
            <a:off x="9144000" y="1945321"/>
            <a:ext cx="2615184" cy="2331720"/>
            <a:chOff x="9144000" y="1945321"/>
            <a:chExt cx="2615184" cy="2331720"/>
          </a:xfrm>
        </p:grpSpPr>
        <p:sp>
          <p:nvSpPr>
            <p:cNvPr id="17" name="Shape 15"/>
            <p:cNvSpPr/>
            <p:nvPr/>
          </p:nvSpPr>
          <p:spPr>
            <a:xfrm>
              <a:off x="9144000" y="1945321"/>
              <a:ext cx="2615184" cy="233172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144000" y="1945321"/>
              <a:ext cx="2615184" cy="82296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189720" y="2265361"/>
              <a:ext cx="2523744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300" b="1" noProof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</a:t>
              </a:r>
              <a:endParaRPr lang="fr-FR" sz="3300" noProof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345168" y="3179761"/>
              <a:ext cx="2212848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 structurée et comparable : ni lisible par les machines, ni interopérable</a:t>
              </a:r>
              <a:endParaRPr lang="fr-FR" sz="1250" noProof="0"/>
            </a:p>
          </p:txBody>
        </p:sp>
      </p:grpSp>
      <p:sp>
        <p:nvSpPr>
          <p:cNvPr id="21" name="Resultat label"/>
          <p:cNvSpPr/>
          <p:nvPr/>
        </p:nvSpPr>
        <p:spPr>
          <a:xfrm>
            <a:off x="640080" y="4543022"/>
            <a:ext cx="10881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fr-FR" sz="1100" noProof="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3E82B74-BD5B-BB5B-B36C-1D3E55E3723C}"/>
              </a:ext>
            </a:extLst>
          </p:cNvPr>
          <p:cNvGrpSpPr/>
          <p:nvPr/>
        </p:nvGrpSpPr>
        <p:grpSpPr>
          <a:xfrm>
            <a:off x="953640" y="4900000"/>
            <a:ext cx="3000000" cy="1610000"/>
            <a:chOff x="953640" y="4900000"/>
            <a:chExt cx="3000000" cy="1610000"/>
          </a:xfrm>
        </p:grpSpPr>
        <p:sp>
          <p:nvSpPr>
            <p:cNvPr id="30" name="Badge 1"/>
            <p:cNvSpPr/>
            <p:nvPr/>
          </p:nvSpPr>
          <p:spPr>
            <a:xfrm>
              <a:off x="1953640" y="4900000"/>
              <a:ext cx="1000000" cy="1000000"/>
            </a:xfrm>
            <a:prstGeom prst="ellipse">
              <a:avLst/>
            </a:prstGeom>
            <a:solidFill>
              <a:srgbClr val="1B2D52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1" name="Icon Exclus"/>
            <p:cNvSpPr/>
            <p:nvPr/>
          </p:nvSpPr>
          <p:spPr>
            <a:xfrm>
              <a:off x="2173640" y="5120000"/>
              <a:ext cx="560000" cy="560000"/>
            </a:xfrm>
            <a:prstGeom prst="noSmoking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2" name="Label 1"/>
            <p:cNvSpPr/>
            <p:nvPr/>
          </p:nvSpPr>
          <p:spPr>
            <a:xfrm>
              <a:off x="95364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Talents écartés à tort</a:t>
              </a:r>
              <a:endParaRPr lang="fr-FR" sz="1250" noProof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0B3381A2-31EA-4580-7404-5DF3EA4129A6}"/>
              </a:ext>
            </a:extLst>
          </p:cNvPr>
          <p:cNvGrpSpPr/>
          <p:nvPr/>
        </p:nvGrpSpPr>
        <p:grpSpPr>
          <a:xfrm>
            <a:off x="4580760" y="4900000"/>
            <a:ext cx="3000000" cy="1610000"/>
            <a:chOff x="4580760" y="4900000"/>
            <a:chExt cx="3000000" cy="1610000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E535FFAB-AE6F-7835-EDA1-904CD956C39A}"/>
                </a:ext>
              </a:extLst>
            </p:cNvPr>
            <p:cNvGrpSpPr/>
            <p:nvPr/>
          </p:nvGrpSpPr>
          <p:grpSpPr>
            <a:xfrm>
              <a:off x="5580760" y="4900000"/>
              <a:ext cx="1000000" cy="1000000"/>
              <a:chOff x="5580760" y="4900000"/>
              <a:chExt cx="1000000" cy="1000000"/>
            </a:xfrm>
          </p:grpSpPr>
          <p:sp>
            <p:nvSpPr>
              <p:cNvPr id="33" name="Badge 2"/>
              <p:cNvSpPr/>
              <p:nvPr/>
            </p:nvSpPr>
            <p:spPr>
              <a:xfrm>
                <a:off x="5580760" y="4900000"/>
                <a:ext cx="1000000" cy="1000000"/>
              </a:xfrm>
              <a:prstGeom prst="ellipse">
                <a:avLst/>
              </a:prstGeom>
              <a:solidFill>
                <a:srgbClr val="1B2D52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4" name="Clock ring"/>
              <p:cNvSpPr/>
              <p:nvPr/>
            </p:nvSpPr>
            <p:spPr>
              <a:xfrm>
                <a:off x="5800760" y="5120000"/>
                <a:ext cx="560000" cy="560000"/>
              </a:xfrm>
              <a:prstGeom prst="ellipse">
                <a:avLst/>
              </a:prstGeom>
              <a:noFill/>
              <a:ln w="44450">
                <a:solidFill>
                  <a:srgbClr val="4FD1E0"/>
                </a:solidFill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5" name="Clock hand v"/>
              <p:cNvSpPr/>
              <p:nvPr/>
            </p:nvSpPr>
            <p:spPr>
              <a:xfrm>
                <a:off x="6061710" y="5200000"/>
                <a:ext cx="38100" cy="200000"/>
              </a:xfrm>
              <a:prstGeom prst="rect">
                <a:avLst/>
              </a:prstGeom>
              <a:solidFill>
                <a:srgbClr val="4FD1E0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6" name="Clock hand h"/>
              <p:cNvSpPr/>
              <p:nvPr/>
            </p:nvSpPr>
            <p:spPr>
              <a:xfrm>
                <a:off x="6080760" y="5380950"/>
                <a:ext cx="170000" cy="38100"/>
              </a:xfrm>
              <a:prstGeom prst="rect">
                <a:avLst/>
              </a:prstGeom>
              <a:solidFill>
                <a:srgbClr val="4FD1E0"/>
              </a:solidFill>
              <a:ln/>
            </p:spPr>
            <p:txBody>
              <a:bodyPr/>
              <a:lstStyle/>
              <a:p>
                <a:endParaRPr lang="fr-FR" noProof="0"/>
              </a:p>
            </p:txBody>
          </p:sp>
        </p:grpSp>
        <p:sp>
          <p:nvSpPr>
            <p:cNvPr id="37" name="Label 2"/>
            <p:cNvSpPr/>
            <p:nvPr/>
          </p:nvSpPr>
          <p:spPr>
            <a:xfrm>
              <a:off x="458076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Recrutements lents</a:t>
              </a:r>
              <a:endParaRPr lang="fr-FR" sz="1250" noProof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8190EE9-FCC6-A1FF-79DB-0EE5B4529BF8}"/>
              </a:ext>
            </a:extLst>
          </p:cNvPr>
          <p:cNvGrpSpPr/>
          <p:nvPr/>
        </p:nvGrpSpPr>
        <p:grpSpPr>
          <a:xfrm>
            <a:off x="8207880" y="4900000"/>
            <a:ext cx="3000000" cy="1610000"/>
            <a:chOff x="8207880" y="4900000"/>
            <a:chExt cx="3000000" cy="1610000"/>
          </a:xfrm>
        </p:grpSpPr>
        <p:sp>
          <p:nvSpPr>
            <p:cNvPr id="38" name="Badge 3"/>
            <p:cNvSpPr/>
            <p:nvPr/>
          </p:nvSpPr>
          <p:spPr>
            <a:xfrm>
              <a:off x="9207880" y="4900000"/>
              <a:ext cx="1000000" cy="1000000"/>
            </a:xfrm>
            <a:prstGeom prst="ellipse">
              <a:avLst/>
            </a:prstGeom>
            <a:solidFill>
              <a:srgbClr val="1B2D52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9" name="Frag 1"/>
            <p:cNvSpPr/>
            <p:nvPr/>
          </p:nvSpPr>
          <p:spPr>
            <a:xfrm>
              <a:off x="9472880" y="516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0" name="Frag 2"/>
            <p:cNvSpPr/>
            <p:nvPr/>
          </p:nvSpPr>
          <p:spPr>
            <a:xfrm>
              <a:off x="9742880" y="513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1" name="Frag 3"/>
            <p:cNvSpPr/>
            <p:nvPr/>
          </p:nvSpPr>
          <p:spPr>
            <a:xfrm>
              <a:off x="9472880" y="5455000"/>
              <a:ext cx="200000" cy="200000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2" name="Frag 4"/>
            <p:cNvSpPr/>
            <p:nvPr/>
          </p:nvSpPr>
          <p:spPr>
            <a:xfrm>
              <a:off x="9772880" y="5475000"/>
              <a:ext cx="200000" cy="2000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3" name="Label 3"/>
            <p:cNvSpPr/>
            <p:nvPr/>
          </p:nvSpPr>
          <p:spPr>
            <a:xfrm>
              <a:off x="8207880" y="5960000"/>
              <a:ext cx="3000000" cy="5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fr-FR" sz="1250" b="1" noProof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Données fragmentées et non souveraines</a:t>
              </a:r>
              <a:endParaRPr lang="fr-FR" sz="1250" noProof="0"/>
            </a:p>
          </p:txBody>
        </p:sp>
      </p:grpSp>
      <p:sp>
        <p:nvSpPr>
          <p:cNvPr id="22" name="Text 20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100" noProof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2/workspace/images/image-8ce9a265a542bcaa91806bc567f2e273.jpg"/>
          <p:cNvPicPr>
            <a:picLocks noChangeAspect="1"/>
          </p:cNvPicPr>
          <p:nvPr/>
        </p:nvPicPr>
        <p:blipFill>
          <a:blip r:embed="rId3"/>
          <a:srcRect l="26520" r="26520"/>
          <a:stretch/>
        </p:blipFill>
        <p:spPr>
          <a:xfrm>
            <a:off x="7360920" y="0"/>
            <a:ext cx="48307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1188720" cy="6858000"/>
          </a:xfrm>
          <a:prstGeom prst="rect">
            <a:avLst/>
          </a:prstGeom>
          <a:solidFill>
            <a:srgbClr val="0B1733">
              <a:alpha val="7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B1733">
              <a:alpha val="96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fr-FR" sz="125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7498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 : des données riches et profondes</a:t>
            </a:r>
            <a:endParaRPr lang="fr-FR" sz="3100" noProof="0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5ED207C-56A1-D992-87EE-9709EAC3470F}"/>
              </a:ext>
            </a:extLst>
          </p:cNvPr>
          <p:cNvGrpSpPr/>
          <p:nvPr/>
        </p:nvGrpSpPr>
        <p:grpSpPr>
          <a:xfrm>
            <a:off x="640080" y="2295330"/>
            <a:ext cx="6263640" cy="1024128"/>
            <a:chOff x="640080" y="2743200"/>
            <a:chExt cx="6263640" cy="1024128"/>
          </a:xfrm>
        </p:grpSpPr>
        <p:sp>
          <p:nvSpPr>
            <p:cNvPr id="8" name="Shape 5"/>
            <p:cNvSpPr/>
            <p:nvPr/>
          </p:nvSpPr>
          <p:spPr>
            <a:xfrm>
              <a:off x="640080" y="274320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841248" y="2999232"/>
              <a:ext cx="512064" cy="512064"/>
            </a:xfrm>
            <a:prstGeom prst="ellipse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841248" y="299923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</a:t>
              </a:r>
              <a:endParaRPr lang="fr-FR" sz="2000" noProof="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554480" y="3113814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Profond</a:t>
              </a:r>
              <a:endParaRPr lang="fr-FR" sz="1600" noProof="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554480" y="3200400"/>
              <a:ext cx="5166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endParaRPr lang="fr-FR" sz="125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47CA1FF4-5E43-14B8-C678-BE19A4CF7C3D}"/>
              </a:ext>
            </a:extLst>
          </p:cNvPr>
          <p:cNvGrpSpPr/>
          <p:nvPr/>
        </p:nvGrpSpPr>
        <p:grpSpPr>
          <a:xfrm>
            <a:off x="640080" y="3720430"/>
            <a:ext cx="6263640" cy="1024128"/>
            <a:chOff x="640080" y="3931920"/>
            <a:chExt cx="6263640" cy="1024128"/>
          </a:xfrm>
        </p:grpSpPr>
        <p:sp>
          <p:nvSpPr>
            <p:cNvPr id="13" name="Shape 10"/>
            <p:cNvSpPr/>
            <p:nvPr/>
          </p:nvSpPr>
          <p:spPr>
            <a:xfrm>
              <a:off x="640080" y="393192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841248" y="4187952"/>
              <a:ext cx="512064" cy="512064"/>
            </a:xfrm>
            <a:prstGeom prst="ellipse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841248" y="418795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fr-FR" sz="2000" noProof="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554480" y="4265213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Structuré</a:t>
              </a:r>
              <a:endParaRPr lang="fr-FR" sz="1600" noProof="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5C4FE30-9F57-FA4A-CD65-4A36291BF879}"/>
              </a:ext>
            </a:extLst>
          </p:cNvPr>
          <p:cNvGrpSpPr/>
          <p:nvPr/>
        </p:nvGrpSpPr>
        <p:grpSpPr>
          <a:xfrm>
            <a:off x="640080" y="5120640"/>
            <a:ext cx="6263640" cy="1024128"/>
            <a:chOff x="640080" y="5120640"/>
            <a:chExt cx="6263640" cy="1024128"/>
          </a:xfrm>
        </p:grpSpPr>
        <p:sp>
          <p:nvSpPr>
            <p:cNvPr id="18" name="Shape 15"/>
            <p:cNvSpPr/>
            <p:nvPr/>
          </p:nvSpPr>
          <p:spPr>
            <a:xfrm>
              <a:off x="640080" y="5120640"/>
              <a:ext cx="626364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841248" y="5376672"/>
              <a:ext cx="512064" cy="512064"/>
            </a:xfrm>
            <a:prstGeom prst="ellipse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841248" y="5376672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2000" b="1" noProof="0" dirty="0">
                  <a:solidFill>
                    <a:srgbClr val="0A122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fr-FR" sz="2000" noProof="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1554480" y="5435262"/>
              <a:ext cx="5120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Vivant</a:t>
              </a:r>
              <a:endParaRPr lang="fr-FR" sz="1600" noProof="0" dirty="0"/>
            </a:p>
          </p:txBody>
        </p:sp>
      </p:grpSp>
      <p:sp>
        <p:nvSpPr>
          <p:cNvPr id="23" name="Text 20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2/workspace/images/image-d1b8bd1c7c6f52fed723722a0b172cc0.jpg"/>
          <p:cNvPicPr>
            <a:picLocks noChangeAspect="1"/>
          </p:cNvPicPr>
          <p:nvPr/>
        </p:nvPicPr>
        <p:blipFill>
          <a:blip r:embed="rId3"/>
          <a:srcRect l="27778" r="27778"/>
          <a:stretch/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0"/>
            <a:ext cx="1188720" cy="6858000"/>
          </a:xfrm>
          <a:prstGeom prst="rect">
            <a:avLst/>
          </a:prstGeom>
          <a:solidFill>
            <a:srgbClr val="0B1733">
              <a:alpha val="7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/>
          <p:cNvSpPr/>
          <p:nvPr/>
        </p:nvSpPr>
        <p:spPr>
          <a:xfrm>
            <a:off x="4556912" y="-43543"/>
            <a:ext cx="7619695" cy="6858000"/>
          </a:xfrm>
          <a:prstGeom prst="rect">
            <a:avLst/>
          </a:prstGeom>
          <a:solidFill>
            <a:srgbClr val="0B1733">
              <a:alpha val="96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2"/>
          <p:cNvSpPr/>
          <p:nvPr/>
        </p:nvSpPr>
        <p:spPr>
          <a:xfrm>
            <a:off x="5074920" y="457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RÉTENTION</a:t>
            </a:r>
            <a:endParaRPr lang="fr-FR" sz="1250" noProof="0" dirty="0"/>
          </a:p>
        </p:txBody>
      </p:sp>
      <p:sp>
        <p:nvSpPr>
          <p:cNvPr id="6" name="Text 3"/>
          <p:cNvSpPr/>
          <p:nvPr/>
        </p:nvSpPr>
        <p:spPr>
          <a:xfrm>
            <a:off x="5074920" y="749808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fr-FR" sz="29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plateforme qui ne conserve aucune donnée</a:t>
            </a:r>
            <a:endParaRPr lang="fr-FR" sz="2900" noProof="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endParaRPr lang="fr-FR" sz="1500" noProof="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5AB3F410-CBA6-7E2F-F147-0CDB533CC5C1}"/>
              </a:ext>
            </a:extLst>
          </p:cNvPr>
          <p:cNvGrpSpPr/>
          <p:nvPr/>
        </p:nvGrpSpPr>
        <p:grpSpPr>
          <a:xfrm>
            <a:off x="5074920" y="2743200"/>
            <a:ext cx="6629400" cy="1024128"/>
            <a:chOff x="5074920" y="2743200"/>
            <a:chExt cx="6629400" cy="1024128"/>
          </a:xfrm>
        </p:grpSpPr>
        <p:sp>
          <p:nvSpPr>
            <p:cNvPr id="8" name="Shape 5"/>
            <p:cNvSpPr/>
            <p:nvPr/>
          </p:nvSpPr>
          <p:spPr>
            <a:xfrm>
              <a:off x="5074920" y="274320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5074920" y="2743200"/>
              <a:ext cx="91440" cy="1024128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367528" y="3067340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Aucune base centrale</a:t>
              </a:r>
              <a:endParaRPr lang="fr-FR" sz="16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0AF70534-BB6C-549B-0D60-6EBE8D9B0BE3}"/>
              </a:ext>
            </a:extLst>
          </p:cNvPr>
          <p:cNvGrpSpPr/>
          <p:nvPr/>
        </p:nvGrpSpPr>
        <p:grpSpPr>
          <a:xfrm>
            <a:off x="5074920" y="3931920"/>
            <a:ext cx="6629400" cy="1024128"/>
            <a:chOff x="5074920" y="3931920"/>
            <a:chExt cx="6629400" cy="1024128"/>
          </a:xfrm>
        </p:grpSpPr>
        <p:sp>
          <p:nvSpPr>
            <p:cNvPr id="12" name="Shape 9"/>
            <p:cNvSpPr/>
            <p:nvPr/>
          </p:nvSpPr>
          <p:spPr>
            <a:xfrm>
              <a:off x="5074920" y="393192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074920" y="3931920"/>
              <a:ext cx="91440" cy="1024128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367528" y="4224964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Souveraineté du citoyen</a:t>
              </a:r>
              <a:endParaRPr lang="fr-FR" sz="1600" noProof="0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3781C220-2CC9-26B8-802F-506693E98A28}"/>
              </a:ext>
            </a:extLst>
          </p:cNvPr>
          <p:cNvGrpSpPr/>
          <p:nvPr/>
        </p:nvGrpSpPr>
        <p:grpSpPr>
          <a:xfrm>
            <a:off x="5074920" y="5120640"/>
            <a:ext cx="6629400" cy="1024128"/>
            <a:chOff x="5074920" y="5120640"/>
            <a:chExt cx="6629400" cy="1024128"/>
          </a:xfrm>
        </p:grpSpPr>
        <p:sp>
          <p:nvSpPr>
            <p:cNvPr id="16" name="Shape 13"/>
            <p:cNvSpPr/>
            <p:nvPr/>
          </p:nvSpPr>
          <p:spPr>
            <a:xfrm>
              <a:off x="5074920" y="5120640"/>
              <a:ext cx="6629400" cy="1024128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5074920" y="5120640"/>
              <a:ext cx="91440" cy="1024128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367528" y="5438566"/>
              <a:ext cx="6126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Confiance par conception</a:t>
              </a:r>
              <a:endParaRPr lang="fr-FR" sz="1600" noProof="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L'ÉTAT Y GAGNE</a:t>
            </a:r>
            <a:endParaRPr lang="fr-FR" sz="125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leviers pour le pays et ses dirigeants</a:t>
            </a:r>
            <a:endParaRPr lang="fr-FR" sz="3100" noProof="0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4C4D09B-A568-EF34-5895-FE72B1BFFC9E}"/>
              </a:ext>
            </a:extLst>
          </p:cNvPr>
          <p:cNvGrpSpPr/>
          <p:nvPr/>
        </p:nvGrpSpPr>
        <p:grpSpPr>
          <a:xfrm>
            <a:off x="640080" y="1874520"/>
            <a:ext cx="3529584" cy="4343400"/>
            <a:chOff x="640080" y="1874520"/>
            <a:chExt cx="3529584" cy="4343400"/>
          </a:xfrm>
        </p:grpSpPr>
        <p:sp>
          <p:nvSpPr>
            <p:cNvPr id="4" name="Shape 2"/>
            <p:cNvSpPr/>
            <p:nvPr/>
          </p:nvSpPr>
          <p:spPr>
            <a:xfrm>
              <a:off x="64008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4008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40080" y="1874520"/>
              <a:ext cx="91440" cy="43434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87504" y="1874520"/>
              <a:ext cx="327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E8B2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Souveraineté &amp; sécurité</a:t>
              </a:r>
              <a:endParaRPr lang="fr-FR" sz="2400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9611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Surface d’attaque réduite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Données confiées à leur propriétaire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Indépendance</a:t>
              </a:r>
              <a:endParaRPr lang="fr-FR" sz="2000" noProof="0" dirty="0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6374DD82-FA38-3CBB-65CA-936BA615C084}"/>
              </a:ext>
            </a:extLst>
          </p:cNvPr>
          <p:cNvGrpSpPr/>
          <p:nvPr/>
        </p:nvGrpSpPr>
        <p:grpSpPr>
          <a:xfrm>
            <a:off x="4389120" y="1874520"/>
            <a:ext cx="3529584" cy="4343400"/>
            <a:chOff x="4389120" y="1874520"/>
            <a:chExt cx="3529584" cy="4343400"/>
          </a:xfrm>
        </p:grpSpPr>
        <p:sp>
          <p:nvSpPr>
            <p:cNvPr id="9" name="Shape 7"/>
            <p:cNvSpPr/>
            <p:nvPr/>
          </p:nvSpPr>
          <p:spPr>
            <a:xfrm>
              <a:off x="438912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38912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89120" y="1874520"/>
              <a:ext cx="91440" cy="4343400"/>
            </a:xfrm>
            <a:prstGeom prst="rect">
              <a:avLst/>
            </a:prstGeom>
            <a:solidFill>
              <a:srgbClr val="4FD1E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36544" y="1874520"/>
              <a:ext cx="32724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4FD1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Économie &amp; emploi</a:t>
              </a:r>
              <a:endParaRPr lang="fr-FR" sz="2400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64515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Rapidité &amp; fiabilité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Lisibilité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Stimulation d’un écosystème</a:t>
              </a:r>
              <a:endParaRPr lang="fr-FR" sz="2000" noProof="0" dirty="0"/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D07BB24-6254-F06D-AAD5-401FB39B38ED}"/>
              </a:ext>
            </a:extLst>
          </p:cNvPr>
          <p:cNvGrpSpPr/>
          <p:nvPr/>
        </p:nvGrpSpPr>
        <p:grpSpPr>
          <a:xfrm>
            <a:off x="8138160" y="1874520"/>
            <a:ext cx="3529584" cy="4343400"/>
            <a:chOff x="8138160" y="1874520"/>
            <a:chExt cx="3529584" cy="4343400"/>
          </a:xfrm>
        </p:grpSpPr>
        <p:sp>
          <p:nvSpPr>
            <p:cNvPr id="14" name="Shape 12"/>
            <p:cNvSpPr/>
            <p:nvPr/>
          </p:nvSpPr>
          <p:spPr>
            <a:xfrm>
              <a:off x="8138160" y="1874520"/>
              <a:ext cx="3529584" cy="4343400"/>
            </a:xfrm>
            <a:prstGeom prst="rect">
              <a:avLst/>
            </a:prstGeom>
            <a:solidFill>
              <a:srgbClr val="1B2D52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138160" y="1874520"/>
              <a:ext cx="3529584" cy="640080"/>
            </a:xfrm>
            <a:prstGeom prst="rect">
              <a:avLst/>
            </a:prstGeom>
            <a:solidFill>
              <a:srgbClr val="12203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138160" y="1874520"/>
              <a:ext cx="91440" cy="4343400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85584" y="1874520"/>
              <a:ext cx="33821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E8B2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Inclusion &amp; modernisation</a:t>
              </a:r>
              <a:endParaRPr lang="fr-FR" sz="2400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8394192" y="2715768"/>
              <a:ext cx="3054096" cy="3337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Réduction des biais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Lisibilité de l’évolution</a:t>
              </a:r>
              <a:endParaRPr lang="fr-FR" sz="2000" noProof="0" dirty="0"/>
            </a:p>
            <a:p>
              <a:pPr marL="177800" indent="-177800">
                <a:spcAft>
                  <a:spcPts val="3600"/>
                </a:spcAft>
                <a:buSzPct val="100000"/>
                <a:buChar char="•"/>
              </a:pPr>
              <a:r>
                <a:rPr lang="fr-FR" sz="200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Interopérabilité</a:t>
              </a:r>
              <a:endParaRPr lang="fr-FR" sz="2000" noProof="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23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kern="0" spc="300" noProof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fr-FR" sz="125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fr-FR" sz="31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décisions pour engager le pays</a:t>
            </a:r>
            <a:endParaRPr lang="fr-FR" sz="3100" noProof="0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B36FE667-57A3-EE55-5928-8434407D8E3F}"/>
              </a:ext>
            </a:extLst>
          </p:cNvPr>
          <p:cNvGrpSpPr/>
          <p:nvPr/>
        </p:nvGrpSpPr>
        <p:grpSpPr>
          <a:xfrm>
            <a:off x="640080" y="1920240"/>
            <a:ext cx="10881360" cy="896112"/>
            <a:chOff x="640080" y="1920240"/>
            <a:chExt cx="10881360" cy="896112"/>
          </a:xfrm>
        </p:grpSpPr>
        <p:sp>
          <p:nvSpPr>
            <p:cNvPr id="5" name="Shape 3"/>
            <p:cNvSpPr/>
            <p:nvPr/>
          </p:nvSpPr>
          <p:spPr>
            <a:xfrm>
              <a:off x="640080" y="1920240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22960" y="1920240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fr-FR" sz="3000" noProof="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874520" y="2103120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057400" y="2039112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Publier le standard</a:t>
              </a:r>
              <a:endParaRPr lang="fr-FR" sz="1650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937760" y="2011680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Faire de HR-X une norme nationale ouverte pour les données professionnelles riches.</a:t>
              </a:r>
              <a:endParaRPr lang="fr-FR" sz="125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A328200B-8F23-F300-6291-CFA21B9C5285}"/>
              </a:ext>
            </a:extLst>
          </p:cNvPr>
          <p:cNvGrpSpPr/>
          <p:nvPr/>
        </p:nvGrpSpPr>
        <p:grpSpPr>
          <a:xfrm>
            <a:off x="640080" y="2953512"/>
            <a:ext cx="10881360" cy="896112"/>
            <a:chOff x="640080" y="2953512"/>
            <a:chExt cx="10881360" cy="896112"/>
          </a:xfrm>
        </p:grpSpPr>
        <p:sp>
          <p:nvSpPr>
            <p:cNvPr id="10" name="Shape 8"/>
            <p:cNvSpPr/>
            <p:nvPr/>
          </p:nvSpPr>
          <p:spPr>
            <a:xfrm>
              <a:off x="640080" y="2953512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22960" y="2953512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fr-FR" sz="3000" noProof="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874520" y="3136392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057400" y="3072384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Déployer sans stockage</a:t>
              </a:r>
              <a:endParaRPr lang="fr-FR" sz="1650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0" y="3044952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moteur public qui lit et écrit le HR-X sans jamais conserver la moindre donnée.</a:t>
              </a:r>
              <a:endParaRPr lang="fr-FR" sz="1250" noProof="0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A76E38B-92A5-C05E-DA67-D9CCFEADF7D0}"/>
              </a:ext>
            </a:extLst>
          </p:cNvPr>
          <p:cNvGrpSpPr/>
          <p:nvPr/>
        </p:nvGrpSpPr>
        <p:grpSpPr>
          <a:xfrm>
            <a:off x="640080" y="3986784"/>
            <a:ext cx="10881360" cy="896112"/>
            <a:chOff x="640080" y="3986784"/>
            <a:chExt cx="10881360" cy="896112"/>
          </a:xfrm>
        </p:grpSpPr>
        <p:sp>
          <p:nvSpPr>
            <p:cNvPr id="15" name="Shape 13"/>
            <p:cNvSpPr/>
            <p:nvPr/>
          </p:nvSpPr>
          <p:spPr>
            <a:xfrm>
              <a:off x="640080" y="3986784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3986784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E8B2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fr-FR" sz="3000" noProof="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874520" y="4169664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057400" y="4105656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Donner l'exemple</a:t>
              </a:r>
              <a:endParaRPr lang="fr-FR" sz="1650" noProof="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937760" y="4078224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Recrutement avec une format qui simplifie tout pour tous.</a:t>
              </a:r>
              <a:endParaRPr lang="fr-FR" sz="1250" noProof="0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D3FD07D-2DDE-2DAE-3A1F-E83AB0689CE7}"/>
              </a:ext>
            </a:extLst>
          </p:cNvPr>
          <p:cNvGrpSpPr/>
          <p:nvPr/>
        </p:nvGrpSpPr>
        <p:grpSpPr>
          <a:xfrm>
            <a:off x="640080" y="5020056"/>
            <a:ext cx="10881360" cy="896112"/>
            <a:chOff x="640080" y="5020056"/>
            <a:chExt cx="10881360" cy="896112"/>
          </a:xfrm>
        </p:grpSpPr>
        <p:sp>
          <p:nvSpPr>
            <p:cNvPr id="20" name="Shape 18"/>
            <p:cNvSpPr/>
            <p:nvPr/>
          </p:nvSpPr>
          <p:spPr>
            <a:xfrm>
              <a:off x="640080" y="5020056"/>
              <a:ext cx="10881360" cy="896112"/>
            </a:xfrm>
            <a:prstGeom prst="rect">
              <a:avLst/>
            </a:prstGeom>
            <a:solidFill>
              <a:srgbClr val="12203F"/>
            </a:solidFill>
            <a:ln/>
            <a:effectLst>
              <a:outerShdw blurRad="114300" dist="38100" dir="5400000" algn="bl" rotWithShape="0">
                <a:srgbClr val="000000">
                  <a:alpha val="28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2960" y="5020056"/>
              <a:ext cx="100584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3000" b="1" noProof="0" dirty="0">
                  <a:solidFill>
                    <a:srgbClr val="4FD1E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fr-FR" sz="3000" noProof="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874520" y="5202936"/>
              <a:ext cx="22860" cy="530352"/>
            </a:xfrm>
            <a:prstGeom prst="rect">
              <a:avLst/>
            </a:prstGeom>
            <a:solidFill>
              <a:srgbClr val="E8B23A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057400" y="5138928"/>
              <a:ext cx="28346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50" b="1" noProof="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Mesurer &amp; étendre</a:t>
              </a:r>
              <a:endParaRPr lang="fr-FR" sz="1650" noProof="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37760" y="5111496"/>
              <a:ext cx="640080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fr-FR" sz="1250" noProof="0" dirty="0">
                  <a:solidFill>
                    <a:srgbClr val="C7D2E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Piloter par la donnée : délais de recrutement, inclusion, adoption.</a:t>
              </a:r>
              <a:endParaRPr lang="fr-FR" sz="1250" noProof="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i="1" noProof="0" dirty="0">
                <a:solidFill>
                  <a:srgbClr val="E8B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HR-X : Le format de données de carrières pour l’emploi de demain, dès aujourd’hui.</a:t>
            </a:r>
            <a:endParaRPr lang="fr-FR" sz="1500" noProof="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9FB0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1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554</Words>
  <Application>Microsoft Office PowerPoint</Application>
  <PresentationFormat>Grand écran</PresentationFormat>
  <Paragraphs>94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Rémi Verschuur</dc:creator>
  <cp:lastModifiedBy>Rémi Verschuur</cp:lastModifiedBy>
  <cp:revision>2</cp:revision>
  <dcterms:created xsi:type="dcterms:W3CDTF">2026-06-17T04:49:57Z</dcterms:created>
  <dcterms:modified xsi:type="dcterms:W3CDTF">2026-06-17T17:54:27Z</dcterms:modified>
</cp:coreProperties>
</file>